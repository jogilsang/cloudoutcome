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Relationship Id="rId33" Type="http://schemas.openxmlformats.org/officeDocument/2006/relationships/image" Target="../media/image32.svg"/><Relationship Id="rId34" Type="http://schemas.openxmlformats.org/officeDocument/2006/relationships/image" Target="../media/image33.png"/><Relationship Id="rId35" Type="http://schemas.openxmlformats.org/officeDocument/2006/relationships/image" Target="../media/image34.svg"/><Relationship Id="rId36" Type="http://schemas.openxmlformats.org/officeDocument/2006/relationships/image" Target="../media/image35.png"/><Relationship Id="rId37" Type="http://schemas.openxmlformats.org/officeDocument/2006/relationships/image" Target="../media/image36.svg"/><Relationship Id="rId38" Type="http://schemas.openxmlformats.org/officeDocument/2006/relationships/image" Target="../media/image37.png"/><Relationship Id="rId39" Type="http://schemas.openxmlformats.org/officeDocument/2006/relationships/image" Target="../media/image38.svg"/><Relationship Id="rId40" Type="http://schemas.openxmlformats.org/officeDocument/2006/relationships/image" Target="../media/image39.png"/><Relationship Id="rId41" Type="http://schemas.openxmlformats.org/officeDocument/2006/relationships/image" Target="../media/image40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Relationship Id="rId33" Type="http://schemas.openxmlformats.org/officeDocument/2006/relationships/image" Target="../media/image32.svg"/><Relationship Id="rId34" Type="http://schemas.openxmlformats.org/officeDocument/2006/relationships/image" Target="../media/image33.png"/><Relationship Id="rId35" Type="http://schemas.openxmlformats.org/officeDocument/2006/relationships/image" Target="../media/image34.svg"/><Relationship Id="rId36" Type="http://schemas.openxmlformats.org/officeDocument/2006/relationships/image" Target="../media/image35.png"/><Relationship Id="rId37" Type="http://schemas.openxmlformats.org/officeDocument/2006/relationships/image" Target="../media/image36.svg"/><Relationship Id="rId38" Type="http://schemas.openxmlformats.org/officeDocument/2006/relationships/image" Target="../media/image37.png"/><Relationship Id="rId39" Type="http://schemas.openxmlformats.org/officeDocument/2006/relationships/image" Target="../media/image38.svg"/><Relationship Id="rId40" Type="http://schemas.openxmlformats.org/officeDocument/2006/relationships/image" Target="../media/image39.png"/><Relationship Id="rId41" Type="http://schemas.openxmlformats.org/officeDocument/2006/relationships/image" Target="../media/image4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Relationship Id="rId33" Type="http://schemas.openxmlformats.org/officeDocument/2006/relationships/image" Target="../media/image32.svg"/><Relationship Id="rId34" Type="http://schemas.openxmlformats.org/officeDocument/2006/relationships/image" Target="../media/image33.png"/><Relationship Id="rId35" Type="http://schemas.openxmlformats.org/officeDocument/2006/relationships/image" Target="../media/image34.svg"/><Relationship Id="rId36" Type="http://schemas.openxmlformats.org/officeDocument/2006/relationships/image" Target="../media/image35.png"/><Relationship Id="rId37" Type="http://schemas.openxmlformats.org/officeDocument/2006/relationships/image" Target="../media/image36.svg"/><Relationship Id="rId38" Type="http://schemas.openxmlformats.org/officeDocument/2006/relationships/image" Target="../media/image37.png"/><Relationship Id="rId39" Type="http://schemas.openxmlformats.org/officeDocument/2006/relationships/image" Target="../media/image38.svg"/><Relationship Id="rId40" Type="http://schemas.openxmlformats.org/officeDocument/2006/relationships/image" Target="../media/image39.png"/><Relationship Id="rId41" Type="http://schemas.openxmlformats.org/officeDocument/2006/relationships/image" Target="../media/image4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Relationship Id="rId33" Type="http://schemas.openxmlformats.org/officeDocument/2006/relationships/image" Target="../media/image32.svg"/><Relationship Id="rId34" Type="http://schemas.openxmlformats.org/officeDocument/2006/relationships/image" Target="../media/image33.png"/><Relationship Id="rId35" Type="http://schemas.openxmlformats.org/officeDocument/2006/relationships/image" Target="../media/image34.svg"/><Relationship Id="rId36" Type="http://schemas.openxmlformats.org/officeDocument/2006/relationships/image" Target="../media/image35.png"/><Relationship Id="rId37" Type="http://schemas.openxmlformats.org/officeDocument/2006/relationships/image" Target="../media/image36.svg"/><Relationship Id="rId38" Type="http://schemas.openxmlformats.org/officeDocument/2006/relationships/image" Target="../media/image37.png"/><Relationship Id="rId39" Type="http://schemas.openxmlformats.org/officeDocument/2006/relationships/image" Target="../media/image38.svg"/><Relationship Id="rId40" Type="http://schemas.openxmlformats.org/officeDocument/2006/relationships/image" Target="../media/image39.png"/><Relationship Id="rId41" Type="http://schemas.openxmlformats.org/officeDocument/2006/relationships/image" Target="../media/image4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svg"/><Relationship Id="rId26" Type="http://schemas.openxmlformats.org/officeDocument/2006/relationships/image" Target="../media/image25.png"/><Relationship Id="rId27" Type="http://schemas.openxmlformats.org/officeDocument/2006/relationships/image" Target="../media/image26.svg"/><Relationship Id="rId28" Type="http://schemas.openxmlformats.org/officeDocument/2006/relationships/image" Target="../media/image27.png"/><Relationship Id="rId29" Type="http://schemas.openxmlformats.org/officeDocument/2006/relationships/image" Target="../media/image28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31.png"/><Relationship Id="rId33" Type="http://schemas.openxmlformats.org/officeDocument/2006/relationships/image" Target="../media/image32.svg"/><Relationship Id="rId34" Type="http://schemas.openxmlformats.org/officeDocument/2006/relationships/image" Target="../media/image33.png"/><Relationship Id="rId35" Type="http://schemas.openxmlformats.org/officeDocument/2006/relationships/image" Target="../media/image34.svg"/><Relationship Id="rId36" Type="http://schemas.openxmlformats.org/officeDocument/2006/relationships/image" Target="../media/image35.png"/><Relationship Id="rId37" Type="http://schemas.openxmlformats.org/officeDocument/2006/relationships/image" Target="../media/image36.svg"/><Relationship Id="rId38" Type="http://schemas.openxmlformats.org/officeDocument/2006/relationships/image" Target="../media/image37.png"/><Relationship Id="rId39" Type="http://schemas.openxmlformats.org/officeDocument/2006/relationships/image" Target="../media/image38.svg"/><Relationship Id="rId40" Type="http://schemas.openxmlformats.org/officeDocument/2006/relationships/image" Target="../media/image39.png"/><Relationship Id="rId41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CloudOutcome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9494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Serverless KPI platform with read-only cross-account collection</a:t>
            </a:r>
          </a:p>
        </p:txBody>
      </p:sp>
      <p:sp>
        <p:nvSpPr>
          <p:cNvPr id="4" name="group:aws-cloud"/>
          <p:cNvSpPr/>
          <p:nvPr/>
        </p:nvSpPr>
        <p:spPr>
          <a:xfrm>
            <a:off x="1677724" y="868680"/>
            <a:ext cx="6066628" cy="5029200"/>
          </a:xfrm>
          <a:prstGeom prst="rect">
            <a:avLst/>
          </a:prstGeom>
          <a:noFill/>
          <a:ln w="15875">
            <a:solidFill>
              <a:srgbClr val="232F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icon:group-aws-clou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724" y="868680"/>
            <a:ext cx="177920" cy="177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91228" y="880541"/>
            <a:ext cx="5807405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AWS Cloud - CloudOutcome account</a:t>
            </a:r>
          </a:p>
        </p:txBody>
      </p:sp>
      <p:sp>
        <p:nvSpPr>
          <p:cNvPr id="7" name="group:region"/>
          <p:cNvSpPr/>
          <p:nvPr/>
        </p:nvSpPr>
        <p:spPr>
          <a:xfrm>
            <a:off x="1760753" y="1105906"/>
            <a:ext cx="5900570" cy="4708944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group-region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0753" y="1105906"/>
            <a:ext cx="177920" cy="177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74257" y="1117768"/>
            <a:ext cx="564134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Region (us-east-1)</a:t>
            </a:r>
          </a:p>
        </p:txBody>
      </p:sp>
      <p:sp>
        <p:nvSpPr>
          <p:cNvPr id="10" name="group:generic"/>
          <p:cNvSpPr/>
          <p:nvPr/>
        </p:nvSpPr>
        <p:spPr>
          <a:xfrm>
            <a:off x="1843783" y="1343133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3783" y="1372786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Collection</a:t>
            </a:r>
          </a:p>
        </p:txBody>
      </p:sp>
      <p:sp>
        <p:nvSpPr>
          <p:cNvPr id="12" name="group:generic"/>
          <p:cNvSpPr/>
          <p:nvPr/>
        </p:nvSpPr>
        <p:spPr>
          <a:xfrm>
            <a:off x="1843783" y="3086747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43783" y="3116400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Serving</a:t>
            </a:r>
          </a:p>
        </p:txBody>
      </p:sp>
      <p:sp>
        <p:nvSpPr>
          <p:cNvPr id="14" name="group:generic"/>
          <p:cNvSpPr/>
          <p:nvPr/>
        </p:nvSpPr>
        <p:spPr>
          <a:xfrm>
            <a:off x="1843783" y="4830361"/>
            <a:ext cx="5734512" cy="90146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43783" y="4860014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Delivery (CI/CD)</a:t>
            </a:r>
          </a:p>
        </p:txBody>
      </p:sp>
      <p:sp>
        <p:nvSpPr>
          <p:cNvPr id="16" name="group:account"/>
          <p:cNvSpPr/>
          <p:nvPr/>
        </p:nvSpPr>
        <p:spPr>
          <a:xfrm>
            <a:off x="7951926" y="868680"/>
            <a:ext cx="3919729" cy="5029200"/>
          </a:xfrm>
          <a:prstGeom prst="rect">
            <a:avLst/>
          </a:prstGeom>
          <a:noFill/>
          <a:ln w="15875">
            <a:solidFill>
              <a:srgbClr val="E7157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:group-aws-accoun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1926" y="868680"/>
            <a:ext cx="177920" cy="177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65430" y="880541"/>
            <a:ext cx="366050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Connected AWS accounts (up to 100)</a:t>
            </a:r>
          </a:p>
        </p:txBody>
      </p:sp>
      <p:sp>
        <p:nvSpPr>
          <p:cNvPr id="19" name="group:generic"/>
          <p:cNvSpPr/>
          <p:nvPr/>
        </p:nvSpPr>
        <p:spPr>
          <a:xfrm>
            <a:off x="8034955" y="3365488"/>
            <a:ext cx="3753671" cy="2449363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4955" y="3395141"/>
            <a:ext cx="3753671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santacloth demo storefronts</a:t>
            </a:r>
          </a:p>
        </p:txBody>
      </p:sp>
      <p:cxnSp>
        <p:nvCxnSpPr>
          <p:cNvPr id="65" name="Connector 64"/>
          <p:cNvCxnSpPr>
            <a:stCxn id="22" idx="2"/>
            <a:endCxn id="31" idx="1"/>
          </p:cNvCxnSpPr>
          <p:nvPr/>
        </p:nvCxnSpPr>
        <p:spPr>
          <a:xfrm rot="5400000" flipV="1">
            <a:off x="1658821" y="1798901"/>
            <a:ext cx="927404" cy="2454856"/>
          </a:xfrm>
          <a:prstGeom prst="bentConnector2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31" idx="3"/>
            <a:endCxn id="33" idx="1"/>
          </p:cNvCxnSpPr>
          <p:nvPr/>
        </p:nvCxnSpPr>
        <p:spPr>
          <a:xfrm>
            <a:off x="3634623" y="3490031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33" idx="3"/>
            <a:endCxn id="35" idx="1"/>
          </p:cNvCxnSpPr>
          <p:nvPr/>
        </p:nvCxnSpPr>
        <p:spPr>
          <a:xfrm>
            <a:off x="4447124" y="3490031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35" idx="3"/>
            <a:endCxn id="37" idx="1"/>
          </p:cNvCxnSpPr>
          <p:nvPr/>
        </p:nvCxnSpPr>
        <p:spPr>
          <a:xfrm>
            <a:off x="5259624" y="3490031"/>
            <a:ext cx="527828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34" idx="2"/>
            <a:endCxn id="39" idx="0"/>
          </p:cNvCxnSpPr>
          <p:nvPr/>
        </p:nvCxnSpPr>
        <p:spPr>
          <a:xfrm rot="5400000" flipV="1">
            <a:off x="4405981" y="3754318"/>
            <a:ext cx="203863" cy="406250"/>
          </a:xfrm>
          <a:prstGeom prst="bentConnector3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57" idx="3"/>
            <a:endCxn id="59" idx="1"/>
          </p:cNvCxnSpPr>
          <p:nvPr/>
        </p:nvCxnSpPr>
        <p:spPr>
          <a:xfrm>
            <a:off x="8835375" y="4542724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59" idx="3"/>
            <a:endCxn id="61" idx="1"/>
          </p:cNvCxnSpPr>
          <p:nvPr/>
        </p:nvCxnSpPr>
        <p:spPr>
          <a:xfrm>
            <a:off x="9647876" y="4542724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61" idx="3"/>
            <a:endCxn id="63" idx="1"/>
          </p:cNvCxnSpPr>
          <p:nvPr/>
        </p:nvCxnSpPr>
        <p:spPr>
          <a:xfrm>
            <a:off x="10460376" y="4542724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25" idx="3"/>
            <a:endCxn id="27" idx="1"/>
          </p:cNvCxnSpPr>
          <p:nvPr/>
        </p:nvCxnSpPr>
        <p:spPr>
          <a:xfrm flipV="1">
            <a:off x="2410160" y="1746417"/>
            <a:ext cx="2564792" cy="355839"/>
          </a:xfrm>
          <a:prstGeom prst="bentConnector3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27" idx="3"/>
            <a:endCxn id="53" idx="1"/>
          </p:cNvCxnSpPr>
          <p:nvPr/>
        </p:nvCxnSpPr>
        <p:spPr>
          <a:xfrm>
            <a:off x="5259624" y="1746417"/>
            <a:ext cx="4014620" cy="299498"/>
          </a:xfrm>
          <a:prstGeom prst="bentConnector3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53" idx="3"/>
            <a:endCxn id="55" idx="1"/>
          </p:cNvCxnSpPr>
          <p:nvPr/>
        </p:nvCxnSpPr>
        <p:spPr>
          <a:xfrm>
            <a:off x="9558916" y="2045916"/>
            <a:ext cx="898495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28" idx="2"/>
            <a:endCxn id="29" idx="0"/>
          </p:cNvCxnSpPr>
          <p:nvPr/>
        </p:nvCxnSpPr>
        <p:spPr>
          <a:xfrm>
            <a:off x="5117288" y="2111897"/>
            <a:ext cx="0" cy="203863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27" idx="3"/>
            <a:endCxn id="37" idx="0"/>
          </p:cNvCxnSpPr>
          <p:nvPr/>
        </p:nvCxnSpPr>
        <p:spPr>
          <a:xfrm>
            <a:off x="5259624" y="1746417"/>
            <a:ext cx="670164" cy="1601278"/>
          </a:xfrm>
          <a:prstGeom prst="bentConnector2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23" idx="3"/>
            <a:endCxn id="41" idx="1"/>
          </p:cNvCxnSpPr>
          <p:nvPr/>
        </p:nvCxnSpPr>
        <p:spPr>
          <a:xfrm>
            <a:off x="1037431" y="4320324"/>
            <a:ext cx="1322100" cy="913321"/>
          </a:xfrm>
          <a:prstGeom prst="bentConnector3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stCxn id="41" idx="3"/>
            <a:endCxn id="43" idx="1"/>
          </p:cNvCxnSpPr>
          <p:nvPr/>
        </p:nvCxnSpPr>
        <p:spPr>
          <a:xfrm>
            <a:off x="2644203" y="5233646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43" idx="3"/>
            <a:endCxn id="45" idx="1"/>
          </p:cNvCxnSpPr>
          <p:nvPr/>
        </p:nvCxnSpPr>
        <p:spPr>
          <a:xfrm>
            <a:off x="3456703" y="5233646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45" idx="3"/>
            <a:endCxn id="47" idx="1"/>
          </p:cNvCxnSpPr>
          <p:nvPr/>
        </p:nvCxnSpPr>
        <p:spPr>
          <a:xfrm>
            <a:off x="4269204" y="5233646"/>
            <a:ext cx="52782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47" idx="3"/>
            <a:endCxn id="49" idx="1"/>
          </p:cNvCxnSpPr>
          <p:nvPr/>
        </p:nvCxnSpPr>
        <p:spPr>
          <a:xfrm>
            <a:off x="5081704" y="5233646"/>
            <a:ext cx="616788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51" idx="1"/>
            <a:endCxn id="49" idx="3"/>
          </p:cNvCxnSpPr>
          <p:nvPr/>
        </p:nvCxnSpPr>
        <p:spPr>
          <a:xfrm flipH="1">
            <a:off x="5983165" y="5233646"/>
            <a:ext cx="705748" cy="0"/>
          </a:xfrm>
          <a:prstGeom prst="straightConnector1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>
            <a:stCxn id="61" idx="0"/>
            <a:endCxn id="56" idx="2"/>
          </p:cNvCxnSpPr>
          <p:nvPr/>
        </p:nvCxnSpPr>
        <p:spPr>
          <a:xfrm rot="5400000" flipH="1" flipV="1">
            <a:off x="9464397" y="3265038"/>
            <a:ext cx="1988992" cy="281706"/>
          </a:xfrm>
          <a:prstGeom prst="bentConnector3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icon:users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760" y="2054812"/>
            <a:ext cx="284672" cy="2846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94776" y="236320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Business owner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/ Judge</a:t>
            </a:r>
          </a:p>
        </p:txBody>
      </p:sp>
      <p:pic>
        <p:nvPicPr>
          <p:cNvPr id="23" name="icon:developer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2760" y="4177988"/>
            <a:ext cx="284672" cy="2846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4776" y="44863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Coding agents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(Codex, Claude Code)</a:t>
            </a:r>
          </a:p>
        </p:txBody>
      </p:sp>
      <p:pic>
        <p:nvPicPr>
          <p:cNvPr id="25" name="icon:amazon-eventbridge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25489" y="1959922"/>
            <a:ext cx="284672" cy="2846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67505" y="226831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EventBridge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(10 min / daily)</a:t>
            </a:r>
          </a:p>
        </p:txBody>
      </p:sp>
      <p:pic>
        <p:nvPicPr>
          <p:cNvPr id="27" name="icon:aws-lambda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1604082"/>
            <a:ext cx="284672" cy="2846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28009" y="1912476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Collector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Lambda</a:t>
            </a:r>
          </a:p>
        </p:txBody>
      </p:sp>
      <p:pic>
        <p:nvPicPr>
          <p:cNvPr id="29" name="icon:checklist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4953" y="2315761"/>
            <a:ext cx="284672" cy="2846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16969" y="262415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AWS Price List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API</a:t>
            </a:r>
          </a:p>
        </p:txBody>
      </p:sp>
      <p:pic>
        <p:nvPicPr>
          <p:cNvPr id="31" name="icon:aws-amplify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49952" y="3347696"/>
            <a:ext cx="284672" cy="2846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091968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Amplify Hosting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(React SPA)</a:t>
            </a:r>
          </a:p>
        </p:txBody>
      </p:sp>
      <p:pic>
        <p:nvPicPr>
          <p:cNvPr id="33" name="icon:amazon-api-gateway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62452" y="3347696"/>
            <a:ext cx="284672" cy="2846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044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API Gateway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(HTTP API)</a:t>
            </a:r>
          </a:p>
        </p:txBody>
      </p:sp>
      <p:pic>
        <p:nvPicPr>
          <p:cNvPr id="35" name="icon:aws-lambda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3347696"/>
            <a:ext cx="284672" cy="2846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169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API Lambda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(FastAPI)</a:t>
            </a:r>
          </a:p>
        </p:txBody>
      </p:sp>
      <p:pic>
        <p:nvPicPr>
          <p:cNvPr id="37" name="icon:amazon-dynamodb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7453" y="3347696"/>
            <a:ext cx="284672" cy="2846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29470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DynamoDB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(workspaces, snapshots)</a:t>
            </a:r>
          </a:p>
        </p:txBody>
      </p:sp>
      <p:pic>
        <p:nvPicPr>
          <p:cNvPr id="39" name="icon:amazon-cognito" descr="image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68703" y="4059375"/>
            <a:ext cx="284672" cy="2846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310719" y="436777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Cognito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(PKCE + MFA)</a:t>
            </a:r>
          </a:p>
        </p:txBody>
      </p:sp>
      <p:pic>
        <p:nvPicPr>
          <p:cNvPr id="41" name="icon:aws-codecommit" descr="image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59532" y="5091310"/>
            <a:ext cx="284672" cy="2846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1015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CodeCommit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(3 repos)</a:t>
            </a:r>
          </a:p>
        </p:txBody>
      </p:sp>
      <p:pic>
        <p:nvPicPr>
          <p:cNvPr id="43" name="icon:aws-codepipeline" descr="image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72032" y="5091310"/>
            <a:ext cx="284672" cy="28467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9140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CodePipeline V2</a:t>
            </a:r>
          </a:p>
        </p:txBody>
      </p:sp>
      <p:pic>
        <p:nvPicPr>
          <p:cNvPr id="45" name="icon:aws-codebuild" descr="image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84533" y="5091310"/>
            <a:ext cx="284672" cy="28467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7265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CodeBuild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(tests, package)</a:t>
            </a:r>
          </a:p>
        </p:txBody>
      </p:sp>
      <p:pic>
        <p:nvPicPr>
          <p:cNvPr id="47" name="icon:aws-cloudformation" descr="image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797033" y="5091310"/>
            <a:ext cx="284672" cy="2846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5390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CloudFormation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(CDK)</a:t>
            </a:r>
          </a:p>
        </p:txBody>
      </p:sp>
      <p:pic>
        <p:nvPicPr>
          <p:cNvPr id="49" name="icon:aws-codedeploy" descr="image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698493" y="5091310"/>
            <a:ext cx="284672" cy="28467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35155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CodeDeploy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(canary)</a:t>
            </a:r>
          </a:p>
        </p:txBody>
      </p:sp>
      <p:pic>
        <p:nvPicPr>
          <p:cNvPr id="51" name="icon:alarm" descr="image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688914" y="5091310"/>
            <a:ext cx="284672" cy="2846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34197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Alarms</a:t>
            </a:r>
          </a:p>
        </p:txBody>
      </p:sp>
      <p:pic>
        <p:nvPicPr>
          <p:cNvPr id="53" name="icon:role" descr="image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74244" y="1903580"/>
            <a:ext cx="284672" cy="2846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34554" y="2211975"/>
            <a:ext cx="1364052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Read-only role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cloud_outcome_readonlyaccess</a:t>
            </a:r>
          </a:p>
        </p:txBody>
      </p:sp>
      <p:pic>
        <p:nvPicPr>
          <p:cNvPr id="55" name="icon:amazon-cloudwatch" descr="image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457411" y="1903580"/>
            <a:ext cx="284672" cy="28467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110468" y="221197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+ Tagging API</a:t>
            </a:r>
          </a:p>
        </p:txBody>
      </p:sp>
      <p:pic>
        <p:nvPicPr>
          <p:cNvPr id="57" name="icon:amazon-eventbridge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50704" y="4400388"/>
            <a:ext cx="284672" cy="28467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292720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Synthetic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orders (5 min)</a:t>
            </a:r>
          </a:p>
        </p:txBody>
      </p:sp>
      <p:pic>
        <p:nvPicPr>
          <p:cNvPr id="59" name="icon:amazon-api-gateway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3204" y="4400388"/>
            <a:ext cx="284672" cy="28467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1052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3 store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HTTP APIs</a:t>
            </a:r>
          </a:p>
        </p:txBody>
      </p:sp>
      <p:pic>
        <p:nvPicPr>
          <p:cNvPr id="61" name="icon:aws-lambda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75705" y="4400388"/>
            <a:ext cx="284672" cy="28467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9177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Checkout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Lambdas</a:t>
            </a:r>
          </a:p>
        </p:txBody>
      </p:sp>
      <p:pic>
        <p:nvPicPr>
          <p:cNvPr id="63" name="icon:amazon-dynamodb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88205" y="4400388"/>
            <a:ext cx="284672" cy="28467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30222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Orders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tables</a:t>
            </a:r>
          </a:p>
        </p:txBody>
      </p:sp>
      <p:sp>
        <p:nvSpPr>
          <p:cNvPr id="85" name="badge:1"/>
          <p:cNvSpPr/>
          <p:nvPr/>
        </p:nvSpPr>
        <p:spPr>
          <a:xfrm>
            <a:off x="2023768" y="3391277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77220" y="3663768"/>
            <a:ext cx="290608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HTTPS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09758" y="3994019"/>
            <a:ext cx="19631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JWT</a:t>
            </a:r>
          </a:p>
        </p:txBody>
      </p:sp>
      <p:sp>
        <p:nvSpPr>
          <p:cNvPr id="88" name="badge:2"/>
          <p:cNvSpPr/>
          <p:nvPr/>
        </p:nvSpPr>
        <p:spPr>
          <a:xfrm>
            <a:off x="9000535" y="4443969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89" name="badge:3"/>
          <p:cNvSpPr/>
          <p:nvPr/>
        </p:nvSpPr>
        <p:spPr>
          <a:xfrm>
            <a:off x="4235000" y="1647663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07414" y="2082492"/>
            <a:ext cx="526351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AssumeRole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68562" y="2082492"/>
            <a:ext cx="479203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read-only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84653" y="2455617"/>
            <a:ext cx="432054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snapshot</a:t>
            </a:r>
          </a:p>
        </p:txBody>
      </p:sp>
      <p:sp>
        <p:nvSpPr>
          <p:cNvPr id="93" name="badge:4"/>
          <p:cNvSpPr/>
          <p:nvPr/>
        </p:nvSpPr>
        <p:spPr>
          <a:xfrm>
            <a:off x="1930251" y="5134891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12980" y="5407382"/>
            <a:ext cx="432054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git push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0012" y="5270222"/>
            <a:ext cx="432054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rollback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54611" y="2817204"/>
            <a:ext cx="384905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metrics</a:t>
            </a:r>
          </a:p>
        </p:txBody>
      </p:sp>
      <p:sp>
        <p:nvSpPr>
          <p:cNvPr id="97" name="legend"/>
          <p:cNvSpPr/>
          <p:nvPr/>
        </p:nvSpPr>
        <p:spPr>
          <a:xfrm>
            <a:off x="320040" y="6103620"/>
            <a:ext cx="3291840" cy="640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11480" y="61493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Flow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29768" y="6432804"/>
            <a:ext cx="457200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601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Request / workflow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29768" y="6615684"/>
            <a:ext cx="457200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601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Data read / write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2029968" y="6432804"/>
            <a:ext cx="457200" cy="0"/>
          </a:xfrm>
          <a:prstGeom prst="straightConnector1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5603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Auth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029968" y="6615684"/>
            <a:ext cx="457200" cy="0"/>
          </a:xfrm>
          <a:prstGeom prst="straightConnector1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25603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Schedule / alarm</a:t>
            </a:r>
          </a:p>
        </p:txBody>
      </p:sp>
      <p:sp>
        <p:nvSpPr>
          <p:cNvPr id="107" name="badge:1"/>
          <p:cNvSpPr/>
          <p:nvPr/>
        </p:nvSpPr>
        <p:spPr>
          <a:xfrm>
            <a:off x="3895344" y="6199632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60520" y="6176772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Serve the app  </a:t>
            </a:r>
          </a:p>
        </p:txBody>
      </p:sp>
      <p:sp>
        <p:nvSpPr>
          <p:cNvPr id="109" name="badge:2"/>
          <p:cNvSpPr/>
          <p:nvPr/>
        </p:nvSpPr>
        <p:spPr>
          <a:xfrm>
            <a:off x="3895344" y="6446520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60520" y="6423660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Demo traffic  </a:t>
            </a:r>
          </a:p>
        </p:txBody>
      </p:sp>
      <p:sp>
        <p:nvSpPr>
          <p:cNvPr id="111" name="badge:3"/>
          <p:cNvSpPr/>
          <p:nvPr/>
        </p:nvSpPr>
        <p:spPr>
          <a:xfrm>
            <a:off x="7888072" y="6199632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53248" y="6176772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Collect and price  </a:t>
            </a:r>
          </a:p>
        </p:txBody>
      </p:sp>
      <p:sp>
        <p:nvSpPr>
          <p:cNvPr id="113" name="badge:4"/>
          <p:cNvSpPr/>
          <p:nvPr/>
        </p:nvSpPr>
        <p:spPr>
          <a:xfrm>
            <a:off x="7888072" y="6446520"/>
            <a:ext cx="201168" cy="201168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53248" y="6423660"/>
            <a:ext cx="367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Ship safely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STEP 1 – Serve the app</a:t>
            </a:r>
          </a:p>
        </p:txBody>
      </p:sp>
      <p:sp>
        <p:nvSpPr>
          <p:cNvPr id="3" name="group:aws-cloud"/>
          <p:cNvSpPr/>
          <p:nvPr/>
        </p:nvSpPr>
        <p:spPr>
          <a:xfrm>
            <a:off x="1677724" y="868680"/>
            <a:ext cx="6066628" cy="5029200"/>
          </a:xfrm>
          <a:prstGeom prst="rect">
            <a:avLst/>
          </a:prstGeom>
          <a:noFill/>
          <a:ln w="15875">
            <a:solidFill>
              <a:srgbClr val="232F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con:group-aws-clou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724" y="868680"/>
            <a:ext cx="177920" cy="177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1228" y="880541"/>
            <a:ext cx="5807405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AWS Cloud - CloudOutcome account</a:t>
            </a:r>
          </a:p>
        </p:txBody>
      </p:sp>
      <p:sp>
        <p:nvSpPr>
          <p:cNvPr id="6" name="group:region"/>
          <p:cNvSpPr/>
          <p:nvPr/>
        </p:nvSpPr>
        <p:spPr>
          <a:xfrm>
            <a:off x="1760753" y="1105906"/>
            <a:ext cx="5900570" cy="4708944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:group-region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0753" y="1105906"/>
            <a:ext cx="177920" cy="177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74257" y="1117768"/>
            <a:ext cx="564134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Region (us-east-1)</a:t>
            </a:r>
          </a:p>
        </p:txBody>
      </p:sp>
      <p:sp>
        <p:nvSpPr>
          <p:cNvPr id="9" name="group:generic"/>
          <p:cNvSpPr/>
          <p:nvPr/>
        </p:nvSpPr>
        <p:spPr>
          <a:xfrm>
            <a:off x="1843783" y="1343133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3783" y="1372786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Collection</a:t>
            </a:r>
          </a:p>
        </p:txBody>
      </p:sp>
      <p:sp>
        <p:nvSpPr>
          <p:cNvPr id="11" name="group:generic"/>
          <p:cNvSpPr/>
          <p:nvPr/>
        </p:nvSpPr>
        <p:spPr>
          <a:xfrm>
            <a:off x="1843783" y="3086747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3783" y="3116400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Serving</a:t>
            </a:r>
          </a:p>
        </p:txBody>
      </p:sp>
      <p:sp>
        <p:nvSpPr>
          <p:cNvPr id="13" name="group:generic"/>
          <p:cNvSpPr/>
          <p:nvPr/>
        </p:nvSpPr>
        <p:spPr>
          <a:xfrm>
            <a:off x="1843783" y="4830361"/>
            <a:ext cx="5734512" cy="90146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3783" y="4860014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Delivery (CI/CD)</a:t>
            </a:r>
          </a:p>
        </p:txBody>
      </p:sp>
      <p:sp>
        <p:nvSpPr>
          <p:cNvPr id="15" name="group:account"/>
          <p:cNvSpPr/>
          <p:nvPr/>
        </p:nvSpPr>
        <p:spPr>
          <a:xfrm>
            <a:off x="7951926" y="868680"/>
            <a:ext cx="3919729" cy="5029200"/>
          </a:xfrm>
          <a:prstGeom prst="rect">
            <a:avLst/>
          </a:prstGeom>
          <a:noFill/>
          <a:ln w="15875">
            <a:solidFill>
              <a:srgbClr val="E7157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group-aws-accoun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1926" y="868680"/>
            <a:ext cx="177920" cy="177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65430" y="880541"/>
            <a:ext cx="366050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Connected AWS accounts (up to 100)</a:t>
            </a:r>
          </a:p>
        </p:txBody>
      </p:sp>
      <p:sp>
        <p:nvSpPr>
          <p:cNvPr id="18" name="group:generic"/>
          <p:cNvSpPr/>
          <p:nvPr/>
        </p:nvSpPr>
        <p:spPr>
          <a:xfrm>
            <a:off x="8034955" y="3365488"/>
            <a:ext cx="3753671" cy="2449363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4955" y="3395141"/>
            <a:ext cx="3753671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santacloth demo storefronts</a:t>
            </a:r>
          </a:p>
        </p:txBody>
      </p:sp>
      <p:cxnSp>
        <p:nvCxnSpPr>
          <p:cNvPr id="64" name="Connector 63"/>
          <p:cNvCxnSpPr>
            <a:stCxn id="56" idx="3"/>
            <a:endCxn id="58" idx="1"/>
          </p:cNvCxnSpPr>
          <p:nvPr/>
        </p:nvCxnSpPr>
        <p:spPr>
          <a:xfrm>
            <a:off x="8835375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stCxn id="58" idx="3"/>
            <a:endCxn id="60" idx="1"/>
          </p:cNvCxnSpPr>
          <p:nvPr/>
        </p:nvCxnSpPr>
        <p:spPr>
          <a:xfrm>
            <a:off x="9647876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60" idx="3"/>
            <a:endCxn id="62" idx="1"/>
          </p:cNvCxnSpPr>
          <p:nvPr/>
        </p:nvCxnSpPr>
        <p:spPr>
          <a:xfrm>
            <a:off x="10460376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24" idx="3"/>
            <a:endCxn id="26" idx="1"/>
          </p:cNvCxnSpPr>
          <p:nvPr/>
        </p:nvCxnSpPr>
        <p:spPr>
          <a:xfrm flipV="1">
            <a:off x="2410160" y="1746417"/>
            <a:ext cx="2564792" cy="355839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26" idx="3"/>
            <a:endCxn id="52" idx="1"/>
          </p:cNvCxnSpPr>
          <p:nvPr/>
        </p:nvCxnSpPr>
        <p:spPr>
          <a:xfrm>
            <a:off x="5259624" y="1746417"/>
            <a:ext cx="4014620" cy="299498"/>
          </a:xfrm>
          <a:prstGeom prst="bentConnector3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52" idx="3"/>
            <a:endCxn id="54" idx="1"/>
          </p:cNvCxnSpPr>
          <p:nvPr/>
        </p:nvCxnSpPr>
        <p:spPr>
          <a:xfrm>
            <a:off x="9558916" y="2045916"/>
            <a:ext cx="898495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27" idx="2"/>
            <a:endCxn id="28" idx="0"/>
          </p:cNvCxnSpPr>
          <p:nvPr/>
        </p:nvCxnSpPr>
        <p:spPr>
          <a:xfrm>
            <a:off x="5117288" y="2111897"/>
            <a:ext cx="0" cy="203863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26" idx="3"/>
            <a:endCxn id="36" idx="0"/>
          </p:cNvCxnSpPr>
          <p:nvPr/>
        </p:nvCxnSpPr>
        <p:spPr>
          <a:xfrm>
            <a:off x="5259624" y="1746417"/>
            <a:ext cx="670164" cy="1601278"/>
          </a:xfrm>
          <a:prstGeom prst="bentConnector2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22" idx="3"/>
            <a:endCxn id="40" idx="1"/>
          </p:cNvCxnSpPr>
          <p:nvPr/>
        </p:nvCxnSpPr>
        <p:spPr>
          <a:xfrm>
            <a:off x="1037431" y="4320324"/>
            <a:ext cx="1322100" cy="913321"/>
          </a:xfrm>
          <a:prstGeom prst="bentConnector3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40" idx="3"/>
            <a:endCxn id="42" idx="1"/>
          </p:cNvCxnSpPr>
          <p:nvPr/>
        </p:nvCxnSpPr>
        <p:spPr>
          <a:xfrm>
            <a:off x="2644203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42" idx="3"/>
            <a:endCxn id="44" idx="1"/>
          </p:cNvCxnSpPr>
          <p:nvPr/>
        </p:nvCxnSpPr>
        <p:spPr>
          <a:xfrm>
            <a:off x="3456703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44" idx="3"/>
            <a:endCxn id="46" idx="1"/>
          </p:cNvCxnSpPr>
          <p:nvPr/>
        </p:nvCxnSpPr>
        <p:spPr>
          <a:xfrm>
            <a:off x="4269204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46" idx="3"/>
            <a:endCxn id="48" idx="1"/>
          </p:cNvCxnSpPr>
          <p:nvPr/>
        </p:nvCxnSpPr>
        <p:spPr>
          <a:xfrm>
            <a:off x="5081704" y="5233646"/>
            <a:ext cx="61678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50" idx="1"/>
            <a:endCxn id="48" idx="3"/>
          </p:cNvCxnSpPr>
          <p:nvPr/>
        </p:nvCxnSpPr>
        <p:spPr>
          <a:xfrm flipH="1">
            <a:off x="5983165" y="5233646"/>
            <a:ext cx="705748" cy="0"/>
          </a:xfrm>
          <a:prstGeom prst="straightConnector1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60" idx="0"/>
            <a:endCxn id="55" idx="2"/>
          </p:cNvCxnSpPr>
          <p:nvPr/>
        </p:nvCxnSpPr>
        <p:spPr>
          <a:xfrm rot="5400000" flipH="1" flipV="1">
            <a:off x="9464397" y="3265038"/>
            <a:ext cx="1988992" cy="281706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stCxn id="21" idx="2"/>
            <a:endCxn id="30" idx="1"/>
          </p:cNvCxnSpPr>
          <p:nvPr/>
        </p:nvCxnSpPr>
        <p:spPr>
          <a:xfrm rot="5400000" flipV="1">
            <a:off x="1658821" y="1798901"/>
            <a:ext cx="927404" cy="2454856"/>
          </a:xfrm>
          <a:prstGeom prst="bentConnector2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30" idx="3"/>
            <a:endCxn id="32" idx="1"/>
          </p:cNvCxnSpPr>
          <p:nvPr/>
        </p:nvCxnSpPr>
        <p:spPr>
          <a:xfrm>
            <a:off x="3634623" y="3490031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32" idx="3"/>
            <a:endCxn id="34" idx="1"/>
          </p:cNvCxnSpPr>
          <p:nvPr/>
        </p:nvCxnSpPr>
        <p:spPr>
          <a:xfrm>
            <a:off x="4447124" y="3490031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34" idx="3"/>
            <a:endCxn id="36" idx="1"/>
          </p:cNvCxnSpPr>
          <p:nvPr/>
        </p:nvCxnSpPr>
        <p:spPr>
          <a:xfrm>
            <a:off x="5259624" y="3490031"/>
            <a:ext cx="527828" cy="0"/>
          </a:xfrm>
          <a:prstGeom prst="straightConnector1">
            <a:avLst/>
          </a:prstGeom>
          <a:ln w="28575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33" idx="2"/>
            <a:endCxn id="38" idx="0"/>
          </p:cNvCxnSpPr>
          <p:nvPr/>
        </p:nvCxnSpPr>
        <p:spPr>
          <a:xfrm rot="5400000" flipV="1">
            <a:off x="4405981" y="3754318"/>
            <a:ext cx="203863" cy="406250"/>
          </a:xfrm>
          <a:prstGeom prst="bentConnector3">
            <a:avLst/>
          </a:prstGeom>
          <a:ln w="25400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con:users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760" y="2054812"/>
            <a:ext cx="284672" cy="284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4776" y="236320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Business owner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/ Judge</a:t>
            </a:r>
          </a:p>
        </p:txBody>
      </p:sp>
      <p:pic>
        <p:nvPicPr>
          <p:cNvPr id="22" name="icon:developer" descr="image.png"/>
          <p:cNvPicPr>
            <a:picLocks noChangeAspect="1"/>
          </p:cNvPicPr>
          <p:nvPr/>
        </p:nvPicPr>
        <p:blipFill>
          <a:blip r:embed="rId10">
            <a:alphaModFix amt="28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2760" y="4177988"/>
            <a:ext cx="284672" cy="2846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4776" y="44863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Coding agents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(Codex, Claude Code)</a:t>
            </a:r>
          </a:p>
        </p:txBody>
      </p:sp>
      <p:pic>
        <p:nvPicPr>
          <p:cNvPr id="24" name="icon:amazon-eventbridge" descr="image.png"/>
          <p:cNvPicPr>
            <a:picLocks noChangeAspect="1"/>
          </p:cNvPicPr>
          <p:nvPr/>
        </p:nvPicPr>
        <p:blipFill>
          <a:blip r:embed="rId12">
            <a:alphaModFix amt="2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25489" y="1959922"/>
            <a:ext cx="284672" cy="2846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67505" y="226831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EventBridge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(10 min / daily)</a:t>
            </a:r>
          </a:p>
        </p:txBody>
      </p:sp>
      <p:pic>
        <p:nvPicPr>
          <p:cNvPr id="26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1604082"/>
            <a:ext cx="284672" cy="2846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28009" y="1912476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Collector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Lambda</a:t>
            </a:r>
          </a:p>
        </p:txBody>
      </p:sp>
      <p:pic>
        <p:nvPicPr>
          <p:cNvPr id="28" name="icon:checklist" descr="image.png"/>
          <p:cNvPicPr>
            <a:picLocks noChangeAspect="1"/>
          </p:cNvPicPr>
          <p:nvPr/>
        </p:nvPicPr>
        <p:blipFill>
          <a:blip r:embed="rId16">
            <a:alphaModFix amt="28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4953" y="2315761"/>
            <a:ext cx="284672" cy="2846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16969" y="262415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AWS Price List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</a:t>
            </a:r>
          </a:p>
        </p:txBody>
      </p:sp>
      <p:pic>
        <p:nvPicPr>
          <p:cNvPr id="30" name="icon:aws-amplify" descr="image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49952" y="3347696"/>
            <a:ext cx="284672" cy="2846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91968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Amplify Hosting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(React SPA)</a:t>
            </a:r>
          </a:p>
        </p:txBody>
      </p:sp>
      <p:pic>
        <p:nvPicPr>
          <p:cNvPr id="32" name="icon:amazon-api-gateway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62452" y="3347696"/>
            <a:ext cx="284672" cy="2846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044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API Gateway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(HTTP API)</a:t>
            </a:r>
          </a:p>
        </p:txBody>
      </p:sp>
      <p:pic>
        <p:nvPicPr>
          <p:cNvPr id="34" name="icon:aws-lambda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3347696"/>
            <a:ext cx="284672" cy="2846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169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API Lambda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(FastAPI)</a:t>
            </a:r>
          </a:p>
        </p:txBody>
      </p:sp>
      <p:pic>
        <p:nvPicPr>
          <p:cNvPr id="36" name="icon:amazon-dynamodb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7453" y="3347696"/>
            <a:ext cx="284672" cy="2846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29470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DynamoDB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(workspaces, snapshots)</a:t>
            </a:r>
          </a:p>
        </p:txBody>
      </p:sp>
      <p:pic>
        <p:nvPicPr>
          <p:cNvPr id="38" name="icon:amazon-cognito" descr="image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68703" y="4059375"/>
            <a:ext cx="284672" cy="2846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310719" y="436777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Cognito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(PKCE + MFA)</a:t>
            </a:r>
          </a:p>
        </p:txBody>
      </p:sp>
      <p:pic>
        <p:nvPicPr>
          <p:cNvPr id="40" name="icon:aws-codecommit" descr="image.png"/>
          <p:cNvPicPr>
            <a:picLocks noChangeAspect="1"/>
          </p:cNvPicPr>
          <p:nvPr/>
        </p:nvPicPr>
        <p:blipFill>
          <a:blip r:embed="rId26">
            <a:alphaModFix amt="28000"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59532" y="5091310"/>
            <a:ext cx="284672" cy="28467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1015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CodeCommit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(3 repos)</a:t>
            </a:r>
          </a:p>
        </p:txBody>
      </p:sp>
      <p:pic>
        <p:nvPicPr>
          <p:cNvPr id="42" name="icon:aws-codepipeline" descr="image.png"/>
          <p:cNvPicPr>
            <a:picLocks noChangeAspect="1"/>
          </p:cNvPicPr>
          <p:nvPr/>
        </p:nvPicPr>
        <p:blipFill>
          <a:blip r:embed="rId28">
            <a:alphaModFix amt="28000"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72032" y="5091310"/>
            <a:ext cx="284672" cy="2846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9140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CodePipeline V2</a:t>
            </a:r>
          </a:p>
        </p:txBody>
      </p:sp>
      <p:pic>
        <p:nvPicPr>
          <p:cNvPr id="44" name="icon:aws-codebuild" descr="image.png"/>
          <p:cNvPicPr>
            <a:picLocks noChangeAspect="1"/>
          </p:cNvPicPr>
          <p:nvPr/>
        </p:nvPicPr>
        <p:blipFill>
          <a:blip r:embed="rId30">
            <a:alphaModFix amt="28000"/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84533" y="5091310"/>
            <a:ext cx="284672" cy="2846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7265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CodeBuild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(tests, package)</a:t>
            </a:r>
          </a:p>
        </p:txBody>
      </p:sp>
      <p:pic>
        <p:nvPicPr>
          <p:cNvPr id="46" name="icon:aws-cloudformation" descr="image.png"/>
          <p:cNvPicPr>
            <a:picLocks noChangeAspect="1"/>
          </p:cNvPicPr>
          <p:nvPr/>
        </p:nvPicPr>
        <p:blipFill>
          <a:blip r:embed="rId32">
            <a:alphaModFix amt="28000"/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797033" y="5091310"/>
            <a:ext cx="284672" cy="2846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5390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CloudFormation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(CDK)</a:t>
            </a:r>
          </a:p>
        </p:txBody>
      </p:sp>
      <p:pic>
        <p:nvPicPr>
          <p:cNvPr id="48" name="icon:aws-codedeploy" descr="image.png"/>
          <p:cNvPicPr>
            <a:picLocks noChangeAspect="1"/>
          </p:cNvPicPr>
          <p:nvPr/>
        </p:nvPicPr>
        <p:blipFill>
          <a:blip r:embed="rId34">
            <a:alphaModFix amt="28000"/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698493" y="5091310"/>
            <a:ext cx="284672" cy="28467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35155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CodeDeploy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(canary)</a:t>
            </a:r>
          </a:p>
        </p:txBody>
      </p:sp>
      <p:pic>
        <p:nvPicPr>
          <p:cNvPr id="50" name="icon:alarm" descr="image.png"/>
          <p:cNvPicPr>
            <a:picLocks noChangeAspect="1"/>
          </p:cNvPicPr>
          <p:nvPr/>
        </p:nvPicPr>
        <p:blipFill>
          <a:blip r:embed="rId36">
            <a:alphaModFix amt="28000"/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688914" y="5091310"/>
            <a:ext cx="284672" cy="2846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4197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Alarms</a:t>
            </a:r>
          </a:p>
        </p:txBody>
      </p:sp>
      <p:pic>
        <p:nvPicPr>
          <p:cNvPr id="52" name="icon:role" descr="image.png"/>
          <p:cNvPicPr>
            <a:picLocks noChangeAspect="1"/>
          </p:cNvPicPr>
          <p:nvPr/>
        </p:nvPicPr>
        <p:blipFill>
          <a:blip r:embed="rId38">
            <a:alphaModFix amt="28000"/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74244" y="1903580"/>
            <a:ext cx="284672" cy="2846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734554" y="2211975"/>
            <a:ext cx="1364052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Read-only role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cloud_outcome_readonlyaccess</a:t>
            </a:r>
          </a:p>
        </p:txBody>
      </p:sp>
      <p:pic>
        <p:nvPicPr>
          <p:cNvPr id="54" name="icon:amazon-cloudwatch" descr="image.png"/>
          <p:cNvPicPr>
            <a:picLocks noChangeAspect="1"/>
          </p:cNvPicPr>
          <p:nvPr/>
        </p:nvPicPr>
        <p:blipFill>
          <a:blip r:embed="rId40">
            <a:alphaModFix amt="28000"/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457411" y="1903580"/>
            <a:ext cx="284672" cy="2846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10468" y="221197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+ Tagging API</a:t>
            </a:r>
          </a:p>
        </p:txBody>
      </p:sp>
      <p:pic>
        <p:nvPicPr>
          <p:cNvPr id="56" name="icon:amazon-eventbridge" descr="image.png"/>
          <p:cNvPicPr>
            <a:picLocks noChangeAspect="1"/>
          </p:cNvPicPr>
          <p:nvPr/>
        </p:nvPicPr>
        <p:blipFill>
          <a:blip r:embed="rId12">
            <a:alphaModFix amt="2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50704" y="4400388"/>
            <a:ext cx="284672" cy="28467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292720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Synthetic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orders (5 min)</a:t>
            </a:r>
          </a:p>
        </p:txBody>
      </p:sp>
      <p:pic>
        <p:nvPicPr>
          <p:cNvPr id="58" name="icon:amazon-api-gateway" descr="image.png"/>
          <p:cNvPicPr>
            <a:picLocks noChangeAspect="1"/>
          </p:cNvPicPr>
          <p:nvPr/>
        </p:nvPicPr>
        <p:blipFill>
          <a:blip r:embed="rId20">
            <a:alphaModFix amt="28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3204" y="4400388"/>
            <a:ext cx="284672" cy="2846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1052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3 store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HTTP APIs</a:t>
            </a:r>
          </a:p>
        </p:txBody>
      </p:sp>
      <p:pic>
        <p:nvPicPr>
          <p:cNvPr id="60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75705" y="4400388"/>
            <a:ext cx="284672" cy="28467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9177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Checkout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Lambdas</a:t>
            </a:r>
          </a:p>
        </p:txBody>
      </p:sp>
      <p:pic>
        <p:nvPicPr>
          <p:cNvPr id="62" name="icon:amazon-dynamodb" descr="image.png"/>
          <p:cNvPicPr>
            <a:picLocks noChangeAspect="1"/>
          </p:cNvPicPr>
          <p:nvPr/>
        </p:nvPicPr>
        <p:blipFill>
          <a:blip r:embed="rId22">
            <a:alphaModFix amt="28000"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88205" y="4400388"/>
            <a:ext cx="284672" cy="2846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30222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Orders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tables</a:t>
            </a:r>
          </a:p>
        </p:txBody>
      </p:sp>
      <p:sp>
        <p:nvSpPr>
          <p:cNvPr id="84" name="badge:1"/>
          <p:cNvSpPr/>
          <p:nvPr/>
        </p:nvSpPr>
        <p:spPr>
          <a:xfrm>
            <a:off x="2023768" y="3391277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77220" y="3663768"/>
            <a:ext cx="290608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HTTPS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09758" y="3994019"/>
            <a:ext cx="19631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JWT</a:t>
            </a:r>
          </a:p>
        </p:txBody>
      </p:sp>
      <p:sp>
        <p:nvSpPr>
          <p:cNvPr id="87" name="legend"/>
          <p:cNvSpPr/>
          <p:nvPr/>
        </p:nvSpPr>
        <p:spPr>
          <a:xfrm>
            <a:off x="320040" y="6103620"/>
            <a:ext cx="3291840" cy="640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61493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Flow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29768" y="6432804"/>
            <a:ext cx="457200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9601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Request / workflow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29768" y="6615684"/>
            <a:ext cx="457200" cy="0"/>
          </a:xfrm>
          <a:prstGeom prst="straightConnector1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601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Schedule / alarm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029968" y="6432804"/>
            <a:ext cx="457200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5603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Data read / write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029968" y="6615684"/>
            <a:ext cx="457200" cy="0"/>
          </a:xfrm>
          <a:prstGeom prst="straightConnector1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5603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Auth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6062472"/>
            <a:ext cx="8031175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661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badge:1"/>
          <p:cNvSpPr/>
          <p:nvPr/>
        </p:nvSpPr>
        <p:spPr>
          <a:xfrm>
            <a:off x="3959352" y="6268212"/>
            <a:ext cx="310896" cy="310896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0" y="6117336"/>
            <a:ext cx="7345375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The SPA on Amplify calls the HTTP API. Lambda (FastAPI) reads precomputed public snapshots or Cognito-protected workspaces from DynamoDB.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STEP 2 – Demo traffic</a:t>
            </a:r>
          </a:p>
        </p:txBody>
      </p:sp>
      <p:sp>
        <p:nvSpPr>
          <p:cNvPr id="3" name="group:aws-cloud"/>
          <p:cNvSpPr/>
          <p:nvPr/>
        </p:nvSpPr>
        <p:spPr>
          <a:xfrm>
            <a:off x="1677724" y="868680"/>
            <a:ext cx="6066628" cy="5029200"/>
          </a:xfrm>
          <a:prstGeom prst="rect">
            <a:avLst/>
          </a:prstGeom>
          <a:noFill/>
          <a:ln w="15875">
            <a:solidFill>
              <a:srgbClr val="232F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con:group-aws-clou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724" y="868680"/>
            <a:ext cx="177920" cy="177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1228" y="880541"/>
            <a:ext cx="5807405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AWS Cloud - CloudOutcome account</a:t>
            </a:r>
          </a:p>
        </p:txBody>
      </p:sp>
      <p:sp>
        <p:nvSpPr>
          <p:cNvPr id="6" name="group:region"/>
          <p:cNvSpPr/>
          <p:nvPr/>
        </p:nvSpPr>
        <p:spPr>
          <a:xfrm>
            <a:off x="1760753" y="1105906"/>
            <a:ext cx="5900570" cy="4708944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:group-region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0753" y="1105906"/>
            <a:ext cx="177920" cy="177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74257" y="1117768"/>
            <a:ext cx="564134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Region (us-east-1)</a:t>
            </a:r>
          </a:p>
        </p:txBody>
      </p:sp>
      <p:sp>
        <p:nvSpPr>
          <p:cNvPr id="9" name="group:generic"/>
          <p:cNvSpPr/>
          <p:nvPr/>
        </p:nvSpPr>
        <p:spPr>
          <a:xfrm>
            <a:off x="1843783" y="1343133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3783" y="1372786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Collection</a:t>
            </a:r>
          </a:p>
        </p:txBody>
      </p:sp>
      <p:sp>
        <p:nvSpPr>
          <p:cNvPr id="11" name="group:generic"/>
          <p:cNvSpPr/>
          <p:nvPr/>
        </p:nvSpPr>
        <p:spPr>
          <a:xfrm>
            <a:off x="1843783" y="3086747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3783" y="3116400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Serving</a:t>
            </a:r>
          </a:p>
        </p:txBody>
      </p:sp>
      <p:sp>
        <p:nvSpPr>
          <p:cNvPr id="13" name="group:generic"/>
          <p:cNvSpPr/>
          <p:nvPr/>
        </p:nvSpPr>
        <p:spPr>
          <a:xfrm>
            <a:off x="1843783" y="4830361"/>
            <a:ext cx="5734512" cy="90146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3783" y="4860014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Delivery (CI/CD)</a:t>
            </a:r>
          </a:p>
        </p:txBody>
      </p:sp>
      <p:sp>
        <p:nvSpPr>
          <p:cNvPr id="15" name="group:account"/>
          <p:cNvSpPr/>
          <p:nvPr/>
        </p:nvSpPr>
        <p:spPr>
          <a:xfrm>
            <a:off x="7951926" y="868680"/>
            <a:ext cx="3919729" cy="5029200"/>
          </a:xfrm>
          <a:prstGeom prst="rect">
            <a:avLst/>
          </a:prstGeom>
          <a:noFill/>
          <a:ln w="15875">
            <a:solidFill>
              <a:srgbClr val="E7157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group-aws-accoun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1926" y="868680"/>
            <a:ext cx="177920" cy="177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65430" y="880541"/>
            <a:ext cx="366050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Connected AWS accounts (up to 100)</a:t>
            </a:r>
          </a:p>
        </p:txBody>
      </p:sp>
      <p:sp>
        <p:nvSpPr>
          <p:cNvPr id="18" name="group:generic"/>
          <p:cNvSpPr/>
          <p:nvPr/>
        </p:nvSpPr>
        <p:spPr>
          <a:xfrm>
            <a:off x="8034955" y="3365488"/>
            <a:ext cx="3753671" cy="2449363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4955" y="3395141"/>
            <a:ext cx="3753671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santacloth demo storefronts</a:t>
            </a:r>
          </a:p>
        </p:txBody>
      </p:sp>
      <p:cxnSp>
        <p:nvCxnSpPr>
          <p:cNvPr id="64" name="Connector 63"/>
          <p:cNvCxnSpPr>
            <a:stCxn id="21" idx="2"/>
            <a:endCxn id="30" idx="1"/>
          </p:cNvCxnSpPr>
          <p:nvPr/>
        </p:nvCxnSpPr>
        <p:spPr>
          <a:xfrm rot="5400000" flipV="1">
            <a:off x="1658821" y="1798901"/>
            <a:ext cx="927404" cy="2454856"/>
          </a:xfrm>
          <a:prstGeom prst="bentConnector2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stCxn id="30" idx="3"/>
            <a:endCxn id="32" idx="1"/>
          </p:cNvCxnSpPr>
          <p:nvPr/>
        </p:nvCxnSpPr>
        <p:spPr>
          <a:xfrm>
            <a:off x="3634623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32" idx="3"/>
            <a:endCxn id="34" idx="1"/>
          </p:cNvCxnSpPr>
          <p:nvPr/>
        </p:nvCxnSpPr>
        <p:spPr>
          <a:xfrm>
            <a:off x="4447124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34" idx="3"/>
            <a:endCxn id="36" idx="1"/>
          </p:cNvCxnSpPr>
          <p:nvPr/>
        </p:nvCxnSpPr>
        <p:spPr>
          <a:xfrm>
            <a:off x="5259624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33" idx="2"/>
            <a:endCxn id="38" idx="0"/>
          </p:cNvCxnSpPr>
          <p:nvPr/>
        </p:nvCxnSpPr>
        <p:spPr>
          <a:xfrm rot="5400000" flipV="1">
            <a:off x="4405981" y="3754318"/>
            <a:ext cx="203863" cy="406250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24" idx="3"/>
            <a:endCxn id="26" idx="1"/>
          </p:cNvCxnSpPr>
          <p:nvPr/>
        </p:nvCxnSpPr>
        <p:spPr>
          <a:xfrm flipV="1">
            <a:off x="2410160" y="1746417"/>
            <a:ext cx="2564792" cy="355839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26" idx="3"/>
            <a:endCxn id="52" idx="1"/>
          </p:cNvCxnSpPr>
          <p:nvPr/>
        </p:nvCxnSpPr>
        <p:spPr>
          <a:xfrm>
            <a:off x="5259624" y="1746417"/>
            <a:ext cx="4014620" cy="299498"/>
          </a:xfrm>
          <a:prstGeom prst="bentConnector3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52" idx="3"/>
            <a:endCxn id="54" idx="1"/>
          </p:cNvCxnSpPr>
          <p:nvPr/>
        </p:nvCxnSpPr>
        <p:spPr>
          <a:xfrm>
            <a:off x="9558916" y="2045916"/>
            <a:ext cx="898495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27" idx="2"/>
            <a:endCxn id="28" idx="0"/>
          </p:cNvCxnSpPr>
          <p:nvPr/>
        </p:nvCxnSpPr>
        <p:spPr>
          <a:xfrm>
            <a:off x="5117288" y="2111897"/>
            <a:ext cx="0" cy="203863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26" idx="3"/>
            <a:endCxn id="36" idx="0"/>
          </p:cNvCxnSpPr>
          <p:nvPr/>
        </p:nvCxnSpPr>
        <p:spPr>
          <a:xfrm>
            <a:off x="5259624" y="1746417"/>
            <a:ext cx="670164" cy="1601278"/>
          </a:xfrm>
          <a:prstGeom prst="bentConnector2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22" idx="3"/>
            <a:endCxn id="40" idx="1"/>
          </p:cNvCxnSpPr>
          <p:nvPr/>
        </p:nvCxnSpPr>
        <p:spPr>
          <a:xfrm>
            <a:off x="1037431" y="4320324"/>
            <a:ext cx="1322100" cy="913321"/>
          </a:xfrm>
          <a:prstGeom prst="bentConnector3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40" idx="3"/>
            <a:endCxn id="42" idx="1"/>
          </p:cNvCxnSpPr>
          <p:nvPr/>
        </p:nvCxnSpPr>
        <p:spPr>
          <a:xfrm>
            <a:off x="2644203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42" idx="3"/>
            <a:endCxn id="44" idx="1"/>
          </p:cNvCxnSpPr>
          <p:nvPr/>
        </p:nvCxnSpPr>
        <p:spPr>
          <a:xfrm>
            <a:off x="3456703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44" idx="3"/>
            <a:endCxn id="46" idx="1"/>
          </p:cNvCxnSpPr>
          <p:nvPr/>
        </p:nvCxnSpPr>
        <p:spPr>
          <a:xfrm>
            <a:off x="4269204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46" idx="3"/>
            <a:endCxn id="48" idx="1"/>
          </p:cNvCxnSpPr>
          <p:nvPr/>
        </p:nvCxnSpPr>
        <p:spPr>
          <a:xfrm>
            <a:off x="5081704" y="5233646"/>
            <a:ext cx="61678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stCxn id="50" idx="1"/>
            <a:endCxn id="48" idx="3"/>
          </p:cNvCxnSpPr>
          <p:nvPr/>
        </p:nvCxnSpPr>
        <p:spPr>
          <a:xfrm flipH="1">
            <a:off x="5983165" y="5233646"/>
            <a:ext cx="705748" cy="0"/>
          </a:xfrm>
          <a:prstGeom prst="straightConnector1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60" idx="0"/>
            <a:endCxn id="55" idx="2"/>
          </p:cNvCxnSpPr>
          <p:nvPr/>
        </p:nvCxnSpPr>
        <p:spPr>
          <a:xfrm rot="5400000" flipH="1" flipV="1">
            <a:off x="9464397" y="3265038"/>
            <a:ext cx="1988992" cy="281706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56" idx="3"/>
            <a:endCxn id="58" idx="1"/>
          </p:cNvCxnSpPr>
          <p:nvPr/>
        </p:nvCxnSpPr>
        <p:spPr>
          <a:xfrm>
            <a:off x="8835375" y="4542724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58" idx="3"/>
            <a:endCxn id="60" idx="1"/>
          </p:cNvCxnSpPr>
          <p:nvPr/>
        </p:nvCxnSpPr>
        <p:spPr>
          <a:xfrm>
            <a:off x="9647876" y="4542724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60" idx="3"/>
            <a:endCxn id="62" idx="1"/>
          </p:cNvCxnSpPr>
          <p:nvPr/>
        </p:nvCxnSpPr>
        <p:spPr>
          <a:xfrm>
            <a:off x="10460376" y="4542724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con:users" descr="image.png"/>
          <p:cNvPicPr>
            <a:picLocks noChangeAspect="1"/>
          </p:cNvPicPr>
          <p:nvPr/>
        </p:nvPicPr>
        <p:blipFill>
          <a:blip r:embed="rId8">
            <a:alphaModFix amt="28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760" y="2054812"/>
            <a:ext cx="284672" cy="284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4776" y="236320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Business owner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/ Judge</a:t>
            </a:r>
          </a:p>
        </p:txBody>
      </p:sp>
      <p:pic>
        <p:nvPicPr>
          <p:cNvPr id="22" name="icon:developer" descr="image.png"/>
          <p:cNvPicPr>
            <a:picLocks noChangeAspect="1"/>
          </p:cNvPicPr>
          <p:nvPr/>
        </p:nvPicPr>
        <p:blipFill>
          <a:blip r:embed="rId10">
            <a:alphaModFix amt="28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2760" y="4177988"/>
            <a:ext cx="284672" cy="2846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4776" y="44863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Coding agents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(Codex, Claude Code)</a:t>
            </a:r>
          </a:p>
        </p:txBody>
      </p:sp>
      <p:pic>
        <p:nvPicPr>
          <p:cNvPr id="24" name="icon:amazon-eventbridge" descr="image.png"/>
          <p:cNvPicPr>
            <a:picLocks noChangeAspect="1"/>
          </p:cNvPicPr>
          <p:nvPr/>
        </p:nvPicPr>
        <p:blipFill>
          <a:blip r:embed="rId12">
            <a:alphaModFix amt="2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25489" y="1959922"/>
            <a:ext cx="284672" cy="2846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67505" y="226831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EventBridge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(10 min / daily)</a:t>
            </a:r>
          </a:p>
        </p:txBody>
      </p:sp>
      <p:pic>
        <p:nvPicPr>
          <p:cNvPr id="26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1604082"/>
            <a:ext cx="284672" cy="2846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28009" y="1912476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Collector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Lambda</a:t>
            </a:r>
          </a:p>
        </p:txBody>
      </p:sp>
      <p:pic>
        <p:nvPicPr>
          <p:cNvPr id="28" name="icon:checklist" descr="image.png"/>
          <p:cNvPicPr>
            <a:picLocks noChangeAspect="1"/>
          </p:cNvPicPr>
          <p:nvPr/>
        </p:nvPicPr>
        <p:blipFill>
          <a:blip r:embed="rId16">
            <a:alphaModFix amt="28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4953" y="2315761"/>
            <a:ext cx="284672" cy="2846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16969" y="262415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AWS Price List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</a:t>
            </a:r>
          </a:p>
        </p:txBody>
      </p:sp>
      <p:pic>
        <p:nvPicPr>
          <p:cNvPr id="30" name="icon:aws-amplify" descr="image.png"/>
          <p:cNvPicPr>
            <a:picLocks noChangeAspect="1"/>
          </p:cNvPicPr>
          <p:nvPr/>
        </p:nvPicPr>
        <p:blipFill>
          <a:blip r:embed="rId18">
            <a:alphaModFix amt="28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49952" y="3347696"/>
            <a:ext cx="284672" cy="2846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91968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Amplify Hosting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(React SPA)</a:t>
            </a:r>
          </a:p>
        </p:txBody>
      </p:sp>
      <p:pic>
        <p:nvPicPr>
          <p:cNvPr id="32" name="icon:amazon-api-gateway" descr="image.png"/>
          <p:cNvPicPr>
            <a:picLocks noChangeAspect="1"/>
          </p:cNvPicPr>
          <p:nvPr/>
        </p:nvPicPr>
        <p:blipFill>
          <a:blip r:embed="rId20">
            <a:alphaModFix amt="28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62452" y="3347696"/>
            <a:ext cx="284672" cy="2846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044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 Gateway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(HTTP API)</a:t>
            </a:r>
          </a:p>
        </p:txBody>
      </p:sp>
      <p:pic>
        <p:nvPicPr>
          <p:cNvPr id="34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3347696"/>
            <a:ext cx="284672" cy="2846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169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 Lambda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(FastAPI)</a:t>
            </a:r>
          </a:p>
        </p:txBody>
      </p:sp>
      <p:pic>
        <p:nvPicPr>
          <p:cNvPr id="36" name="icon:amazon-dynamodb" descr="image.png"/>
          <p:cNvPicPr>
            <a:picLocks noChangeAspect="1"/>
          </p:cNvPicPr>
          <p:nvPr/>
        </p:nvPicPr>
        <p:blipFill>
          <a:blip r:embed="rId22">
            <a:alphaModFix amt="28000"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7453" y="3347696"/>
            <a:ext cx="284672" cy="2846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29470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DynamoDB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(workspaces, snapshots)</a:t>
            </a:r>
          </a:p>
        </p:txBody>
      </p:sp>
      <p:pic>
        <p:nvPicPr>
          <p:cNvPr id="38" name="icon:amazon-cognito" descr="image.png"/>
          <p:cNvPicPr>
            <a:picLocks noChangeAspect="1"/>
          </p:cNvPicPr>
          <p:nvPr/>
        </p:nvPicPr>
        <p:blipFill>
          <a:blip r:embed="rId24">
            <a:alphaModFix amt="28000"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68703" y="4059375"/>
            <a:ext cx="284672" cy="2846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310719" y="436777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Cognito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(PKCE + MFA)</a:t>
            </a:r>
          </a:p>
        </p:txBody>
      </p:sp>
      <p:pic>
        <p:nvPicPr>
          <p:cNvPr id="40" name="icon:aws-codecommit" descr="image.png"/>
          <p:cNvPicPr>
            <a:picLocks noChangeAspect="1"/>
          </p:cNvPicPr>
          <p:nvPr/>
        </p:nvPicPr>
        <p:blipFill>
          <a:blip r:embed="rId26">
            <a:alphaModFix amt="28000"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59532" y="5091310"/>
            <a:ext cx="284672" cy="28467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1015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CodeCommit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(3 repos)</a:t>
            </a:r>
          </a:p>
        </p:txBody>
      </p:sp>
      <p:pic>
        <p:nvPicPr>
          <p:cNvPr id="42" name="icon:aws-codepipeline" descr="image.png"/>
          <p:cNvPicPr>
            <a:picLocks noChangeAspect="1"/>
          </p:cNvPicPr>
          <p:nvPr/>
        </p:nvPicPr>
        <p:blipFill>
          <a:blip r:embed="rId28">
            <a:alphaModFix amt="28000"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72032" y="5091310"/>
            <a:ext cx="284672" cy="2846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9140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CodePipeline V2</a:t>
            </a:r>
          </a:p>
        </p:txBody>
      </p:sp>
      <p:pic>
        <p:nvPicPr>
          <p:cNvPr id="44" name="icon:aws-codebuild" descr="image.png"/>
          <p:cNvPicPr>
            <a:picLocks noChangeAspect="1"/>
          </p:cNvPicPr>
          <p:nvPr/>
        </p:nvPicPr>
        <p:blipFill>
          <a:blip r:embed="rId30">
            <a:alphaModFix amt="28000"/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84533" y="5091310"/>
            <a:ext cx="284672" cy="2846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7265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CodeBuild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(tests, package)</a:t>
            </a:r>
          </a:p>
        </p:txBody>
      </p:sp>
      <p:pic>
        <p:nvPicPr>
          <p:cNvPr id="46" name="icon:aws-cloudformation" descr="image.png"/>
          <p:cNvPicPr>
            <a:picLocks noChangeAspect="1"/>
          </p:cNvPicPr>
          <p:nvPr/>
        </p:nvPicPr>
        <p:blipFill>
          <a:blip r:embed="rId32">
            <a:alphaModFix amt="28000"/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797033" y="5091310"/>
            <a:ext cx="284672" cy="2846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5390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CloudFormation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(CDK)</a:t>
            </a:r>
          </a:p>
        </p:txBody>
      </p:sp>
      <p:pic>
        <p:nvPicPr>
          <p:cNvPr id="48" name="icon:aws-codedeploy" descr="image.png"/>
          <p:cNvPicPr>
            <a:picLocks noChangeAspect="1"/>
          </p:cNvPicPr>
          <p:nvPr/>
        </p:nvPicPr>
        <p:blipFill>
          <a:blip r:embed="rId34">
            <a:alphaModFix amt="28000"/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698493" y="5091310"/>
            <a:ext cx="284672" cy="28467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35155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CodeDeploy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(canary)</a:t>
            </a:r>
          </a:p>
        </p:txBody>
      </p:sp>
      <p:pic>
        <p:nvPicPr>
          <p:cNvPr id="50" name="icon:alarm" descr="image.png"/>
          <p:cNvPicPr>
            <a:picLocks noChangeAspect="1"/>
          </p:cNvPicPr>
          <p:nvPr/>
        </p:nvPicPr>
        <p:blipFill>
          <a:blip r:embed="rId36">
            <a:alphaModFix amt="28000"/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688914" y="5091310"/>
            <a:ext cx="284672" cy="2846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4197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Alarms</a:t>
            </a:r>
          </a:p>
        </p:txBody>
      </p:sp>
      <p:pic>
        <p:nvPicPr>
          <p:cNvPr id="52" name="icon:role" descr="image.png"/>
          <p:cNvPicPr>
            <a:picLocks noChangeAspect="1"/>
          </p:cNvPicPr>
          <p:nvPr/>
        </p:nvPicPr>
        <p:blipFill>
          <a:blip r:embed="rId38">
            <a:alphaModFix amt="28000"/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74244" y="1903580"/>
            <a:ext cx="284672" cy="2846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734554" y="2211975"/>
            <a:ext cx="1364052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Read-only role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cloud_outcome_readonlyaccess</a:t>
            </a:r>
          </a:p>
        </p:txBody>
      </p:sp>
      <p:pic>
        <p:nvPicPr>
          <p:cNvPr id="54" name="icon:amazon-cloudwatch" descr="image.png"/>
          <p:cNvPicPr>
            <a:picLocks noChangeAspect="1"/>
          </p:cNvPicPr>
          <p:nvPr/>
        </p:nvPicPr>
        <p:blipFill>
          <a:blip r:embed="rId40">
            <a:alphaModFix amt="28000"/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457411" y="1903580"/>
            <a:ext cx="284672" cy="2846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10468" y="221197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+ Tagging API</a:t>
            </a:r>
          </a:p>
        </p:txBody>
      </p:sp>
      <p:pic>
        <p:nvPicPr>
          <p:cNvPr id="56" name="icon:amazon-eventbridge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50704" y="4400388"/>
            <a:ext cx="284672" cy="28467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292720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Synthetic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orders (5 min)</a:t>
            </a:r>
          </a:p>
        </p:txBody>
      </p:sp>
      <p:pic>
        <p:nvPicPr>
          <p:cNvPr id="58" name="icon:amazon-api-gateway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3204" y="4400388"/>
            <a:ext cx="284672" cy="2846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1052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3 store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HTTP APIs</a:t>
            </a:r>
          </a:p>
        </p:txBody>
      </p:sp>
      <p:pic>
        <p:nvPicPr>
          <p:cNvPr id="60" name="icon:aws-lambda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75705" y="4400388"/>
            <a:ext cx="284672" cy="28467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9177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Checkout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Lambdas</a:t>
            </a:r>
          </a:p>
        </p:txBody>
      </p:sp>
      <p:pic>
        <p:nvPicPr>
          <p:cNvPr id="62" name="icon:amazon-dynamodb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88205" y="4400388"/>
            <a:ext cx="284672" cy="2846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30222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Orders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tables</a:t>
            </a:r>
          </a:p>
        </p:txBody>
      </p:sp>
      <p:sp>
        <p:nvSpPr>
          <p:cNvPr id="84" name="badge:2"/>
          <p:cNvSpPr/>
          <p:nvPr/>
        </p:nvSpPr>
        <p:spPr>
          <a:xfrm>
            <a:off x="9000535" y="4443969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85" name="legend"/>
          <p:cNvSpPr/>
          <p:nvPr/>
        </p:nvSpPr>
        <p:spPr>
          <a:xfrm>
            <a:off x="320040" y="6103620"/>
            <a:ext cx="3291840" cy="640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61493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Flow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29768" y="6432804"/>
            <a:ext cx="457200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601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Request / workflow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29768" y="6615684"/>
            <a:ext cx="457200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9601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Data read / write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029968" y="6432804"/>
            <a:ext cx="457200" cy="0"/>
          </a:xfrm>
          <a:prstGeom prst="straightConnector1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25603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Auth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029968" y="6615684"/>
            <a:ext cx="457200" cy="0"/>
          </a:xfrm>
          <a:prstGeom prst="straightConnector1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5603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Schedule / alarm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0480" y="6062472"/>
            <a:ext cx="8031175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661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badge:2"/>
          <p:cNvSpPr/>
          <p:nvPr/>
        </p:nvSpPr>
        <p:spPr>
          <a:xfrm>
            <a:off x="3959352" y="6268212"/>
            <a:ext cx="310896" cy="310896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6117336"/>
            <a:ext cx="7345375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EventBridge sends synthetic orders every 5 minutes to three tagged santacloth storefronts, producing real CloudWatch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STEP 3 – Collect and price</a:t>
            </a:r>
          </a:p>
        </p:txBody>
      </p:sp>
      <p:sp>
        <p:nvSpPr>
          <p:cNvPr id="3" name="group:aws-cloud"/>
          <p:cNvSpPr/>
          <p:nvPr/>
        </p:nvSpPr>
        <p:spPr>
          <a:xfrm>
            <a:off x="1677724" y="868680"/>
            <a:ext cx="6066628" cy="5029200"/>
          </a:xfrm>
          <a:prstGeom prst="rect">
            <a:avLst/>
          </a:prstGeom>
          <a:noFill/>
          <a:ln w="15875">
            <a:solidFill>
              <a:srgbClr val="232F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con:group-aws-clou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724" y="868680"/>
            <a:ext cx="177920" cy="177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1228" y="880541"/>
            <a:ext cx="5807405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AWS Cloud - CloudOutcome account</a:t>
            </a:r>
          </a:p>
        </p:txBody>
      </p:sp>
      <p:sp>
        <p:nvSpPr>
          <p:cNvPr id="6" name="group:region"/>
          <p:cNvSpPr/>
          <p:nvPr/>
        </p:nvSpPr>
        <p:spPr>
          <a:xfrm>
            <a:off x="1760753" y="1105906"/>
            <a:ext cx="5900570" cy="4708944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:group-region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0753" y="1105906"/>
            <a:ext cx="177920" cy="177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74257" y="1117768"/>
            <a:ext cx="564134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Region (us-east-1)</a:t>
            </a:r>
          </a:p>
        </p:txBody>
      </p:sp>
      <p:sp>
        <p:nvSpPr>
          <p:cNvPr id="9" name="group:generic"/>
          <p:cNvSpPr/>
          <p:nvPr/>
        </p:nvSpPr>
        <p:spPr>
          <a:xfrm>
            <a:off x="1843783" y="1343133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3783" y="1372786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Collection</a:t>
            </a:r>
          </a:p>
        </p:txBody>
      </p:sp>
      <p:sp>
        <p:nvSpPr>
          <p:cNvPr id="11" name="group:generic"/>
          <p:cNvSpPr/>
          <p:nvPr/>
        </p:nvSpPr>
        <p:spPr>
          <a:xfrm>
            <a:off x="1843783" y="3086747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3783" y="3116400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Serving</a:t>
            </a:r>
          </a:p>
        </p:txBody>
      </p:sp>
      <p:sp>
        <p:nvSpPr>
          <p:cNvPr id="13" name="group:generic"/>
          <p:cNvSpPr/>
          <p:nvPr/>
        </p:nvSpPr>
        <p:spPr>
          <a:xfrm>
            <a:off x="1843783" y="4830361"/>
            <a:ext cx="5734512" cy="90146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3783" y="4860014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Delivery (CI/CD)</a:t>
            </a:r>
          </a:p>
        </p:txBody>
      </p:sp>
      <p:sp>
        <p:nvSpPr>
          <p:cNvPr id="15" name="group:account"/>
          <p:cNvSpPr/>
          <p:nvPr/>
        </p:nvSpPr>
        <p:spPr>
          <a:xfrm>
            <a:off x="7951926" y="868680"/>
            <a:ext cx="3919729" cy="5029200"/>
          </a:xfrm>
          <a:prstGeom prst="rect">
            <a:avLst/>
          </a:prstGeom>
          <a:noFill/>
          <a:ln w="15875">
            <a:solidFill>
              <a:srgbClr val="E7157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group-aws-accoun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1926" y="868680"/>
            <a:ext cx="177920" cy="177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65430" y="880541"/>
            <a:ext cx="366050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Connected AWS accounts (up to 100)</a:t>
            </a:r>
          </a:p>
        </p:txBody>
      </p:sp>
      <p:sp>
        <p:nvSpPr>
          <p:cNvPr id="18" name="group:generic"/>
          <p:cNvSpPr/>
          <p:nvPr/>
        </p:nvSpPr>
        <p:spPr>
          <a:xfrm>
            <a:off x="8034955" y="3365488"/>
            <a:ext cx="3753671" cy="2449363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4955" y="3395141"/>
            <a:ext cx="3753671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santacloth demo storefronts</a:t>
            </a:r>
          </a:p>
        </p:txBody>
      </p:sp>
      <p:cxnSp>
        <p:nvCxnSpPr>
          <p:cNvPr id="64" name="Connector 63"/>
          <p:cNvCxnSpPr>
            <a:stCxn id="21" idx="2"/>
            <a:endCxn id="30" idx="1"/>
          </p:cNvCxnSpPr>
          <p:nvPr/>
        </p:nvCxnSpPr>
        <p:spPr>
          <a:xfrm rot="5400000" flipV="1">
            <a:off x="1658821" y="1798901"/>
            <a:ext cx="927404" cy="2454856"/>
          </a:xfrm>
          <a:prstGeom prst="bentConnector2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stCxn id="30" idx="3"/>
            <a:endCxn id="32" idx="1"/>
          </p:cNvCxnSpPr>
          <p:nvPr/>
        </p:nvCxnSpPr>
        <p:spPr>
          <a:xfrm>
            <a:off x="3634623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32" idx="3"/>
            <a:endCxn id="34" idx="1"/>
          </p:cNvCxnSpPr>
          <p:nvPr/>
        </p:nvCxnSpPr>
        <p:spPr>
          <a:xfrm>
            <a:off x="4447124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34" idx="3"/>
            <a:endCxn id="36" idx="1"/>
          </p:cNvCxnSpPr>
          <p:nvPr/>
        </p:nvCxnSpPr>
        <p:spPr>
          <a:xfrm>
            <a:off x="5259624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33" idx="2"/>
            <a:endCxn id="38" idx="0"/>
          </p:cNvCxnSpPr>
          <p:nvPr/>
        </p:nvCxnSpPr>
        <p:spPr>
          <a:xfrm rot="5400000" flipV="1">
            <a:off x="4405981" y="3754318"/>
            <a:ext cx="203863" cy="406250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56" idx="3"/>
            <a:endCxn id="58" idx="1"/>
          </p:cNvCxnSpPr>
          <p:nvPr/>
        </p:nvCxnSpPr>
        <p:spPr>
          <a:xfrm>
            <a:off x="8835375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58" idx="3"/>
            <a:endCxn id="60" idx="1"/>
          </p:cNvCxnSpPr>
          <p:nvPr/>
        </p:nvCxnSpPr>
        <p:spPr>
          <a:xfrm>
            <a:off x="9647876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60" idx="3"/>
            <a:endCxn id="62" idx="1"/>
          </p:cNvCxnSpPr>
          <p:nvPr/>
        </p:nvCxnSpPr>
        <p:spPr>
          <a:xfrm>
            <a:off x="10460376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22" idx="3"/>
            <a:endCxn id="40" idx="1"/>
          </p:cNvCxnSpPr>
          <p:nvPr/>
        </p:nvCxnSpPr>
        <p:spPr>
          <a:xfrm>
            <a:off x="1037431" y="4320324"/>
            <a:ext cx="1322100" cy="913321"/>
          </a:xfrm>
          <a:prstGeom prst="bentConnector3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40" idx="3"/>
            <a:endCxn id="42" idx="1"/>
          </p:cNvCxnSpPr>
          <p:nvPr/>
        </p:nvCxnSpPr>
        <p:spPr>
          <a:xfrm>
            <a:off x="2644203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42" idx="3"/>
            <a:endCxn id="44" idx="1"/>
          </p:cNvCxnSpPr>
          <p:nvPr/>
        </p:nvCxnSpPr>
        <p:spPr>
          <a:xfrm>
            <a:off x="3456703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44" idx="3"/>
            <a:endCxn id="46" idx="1"/>
          </p:cNvCxnSpPr>
          <p:nvPr/>
        </p:nvCxnSpPr>
        <p:spPr>
          <a:xfrm>
            <a:off x="4269204" y="5233646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46" idx="3"/>
            <a:endCxn id="48" idx="1"/>
          </p:cNvCxnSpPr>
          <p:nvPr/>
        </p:nvCxnSpPr>
        <p:spPr>
          <a:xfrm>
            <a:off x="5081704" y="5233646"/>
            <a:ext cx="61678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50" idx="1"/>
            <a:endCxn id="48" idx="3"/>
          </p:cNvCxnSpPr>
          <p:nvPr/>
        </p:nvCxnSpPr>
        <p:spPr>
          <a:xfrm flipH="1">
            <a:off x="5983165" y="5233646"/>
            <a:ext cx="705748" cy="0"/>
          </a:xfrm>
          <a:prstGeom prst="straightConnector1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60" idx="0"/>
            <a:endCxn id="55" idx="2"/>
          </p:cNvCxnSpPr>
          <p:nvPr/>
        </p:nvCxnSpPr>
        <p:spPr>
          <a:xfrm rot="5400000" flipH="1" flipV="1">
            <a:off x="9464397" y="3265038"/>
            <a:ext cx="1988992" cy="281706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stCxn id="24" idx="3"/>
            <a:endCxn id="26" idx="1"/>
          </p:cNvCxnSpPr>
          <p:nvPr/>
        </p:nvCxnSpPr>
        <p:spPr>
          <a:xfrm flipV="1">
            <a:off x="2410160" y="1746417"/>
            <a:ext cx="2564792" cy="355839"/>
          </a:xfrm>
          <a:prstGeom prst="bentConnector3">
            <a:avLst/>
          </a:prstGeom>
          <a:ln w="28575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26" idx="3"/>
            <a:endCxn id="52" idx="1"/>
          </p:cNvCxnSpPr>
          <p:nvPr/>
        </p:nvCxnSpPr>
        <p:spPr>
          <a:xfrm>
            <a:off x="5259624" y="1746417"/>
            <a:ext cx="4014620" cy="299498"/>
          </a:xfrm>
          <a:prstGeom prst="bentConnector3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52" idx="3"/>
            <a:endCxn id="54" idx="1"/>
          </p:cNvCxnSpPr>
          <p:nvPr/>
        </p:nvCxnSpPr>
        <p:spPr>
          <a:xfrm>
            <a:off x="9558916" y="2045916"/>
            <a:ext cx="898495" cy="0"/>
          </a:xfrm>
          <a:prstGeom prst="straightConnector1">
            <a:avLst/>
          </a:prstGeom>
          <a:ln w="28575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27" idx="2"/>
            <a:endCxn id="28" idx="0"/>
          </p:cNvCxnSpPr>
          <p:nvPr/>
        </p:nvCxnSpPr>
        <p:spPr>
          <a:xfrm>
            <a:off x="5117288" y="2111897"/>
            <a:ext cx="0" cy="203863"/>
          </a:xfrm>
          <a:prstGeom prst="straightConnector1">
            <a:avLst/>
          </a:prstGeom>
          <a:ln w="28575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26" idx="3"/>
            <a:endCxn id="36" idx="0"/>
          </p:cNvCxnSpPr>
          <p:nvPr/>
        </p:nvCxnSpPr>
        <p:spPr>
          <a:xfrm>
            <a:off x="5259624" y="1746417"/>
            <a:ext cx="670164" cy="1601278"/>
          </a:xfrm>
          <a:prstGeom prst="bentConnector2">
            <a:avLst/>
          </a:prstGeom>
          <a:ln w="28575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con:users" descr="image.png"/>
          <p:cNvPicPr>
            <a:picLocks noChangeAspect="1"/>
          </p:cNvPicPr>
          <p:nvPr/>
        </p:nvPicPr>
        <p:blipFill>
          <a:blip r:embed="rId8">
            <a:alphaModFix amt="28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760" y="2054812"/>
            <a:ext cx="284672" cy="284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4776" y="236320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Business owner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/ Judge</a:t>
            </a:r>
          </a:p>
        </p:txBody>
      </p:sp>
      <p:pic>
        <p:nvPicPr>
          <p:cNvPr id="22" name="icon:developer" descr="image.png"/>
          <p:cNvPicPr>
            <a:picLocks noChangeAspect="1"/>
          </p:cNvPicPr>
          <p:nvPr/>
        </p:nvPicPr>
        <p:blipFill>
          <a:blip r:embed="rId10">
            <a:alphaModFix amt="28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2760" y="4177988"/>
            <a:ext cx="284672" cy="2846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4776" y="44863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Coding agents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(Codex, Claude Code)</a:t>
            </a:r>
          </a:p>
        </p:txBody>
      </p:sp>
      <p:pic>
        <p:nvPicPr>
          <p:cNvPr id="24" name="icon:amazon-eventbridge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25489" y="1959922"/>
            <a:ext cx="284672" cy="2846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67505" y="226831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EventBridge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(10 min / daily)</a:t>
            </a:r>
          </a:p>
        </p:txBody>
      </p:sp>
      <p:pic>
        <p:nvPicPr>
          <p:cNvPr id="26" name="icon:aws-lambda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1604082"/>
            <a:ext cx="284672" cy="2846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28009" y="1912476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Collector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Lambda</a:t>
            </a:r>
          </a:p>
        </p:txBody>
      </p:sp>
      <p:pic>
        <p:nvPicPr>
          <p:cNvPr id="28" name="icon:checklist" descr="image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4953" y="2315761"/>
            <a:ext cx="284672" cy="2846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16969" y="262415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AWS Price List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API</a:t>
            </a:r>
          </a:p>
        </p:txBody>
      </p:sp>
      <p:pic>
        <p:nvPicPr>
          <p:cNvPr id="30" name="icon:aws-amplify" descr="image.png"/>
          <p:cNvPicPr>
            <a:picLocks noChangeAspect="1"/>
          </p:cNvPicPr>
          <p:nvPr/>
        </p:nvPicPr>
        <p:blipFill>
          <a:blip r:embed="rId18">
            <a:alphaModFix amt="28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49952" y="3347696"/>
            <a:ext cx="284672" cy="2846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91968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Amplify Hosting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(React SPA)</a:t>
            </a:r>
          </a:p>
        </p:txBody>
      </p:sp>
      <p:pic>
        <p:nvPicPr>
          <p:cNvPr id="32" name="icon:amazon-api-gateway" descr="image.png"/>
          <p:cNvPicPr>
            <a:picLocks noChangeAspect="1"/>
          </p:cNvPicPr>
          <p:nvPr/>
        </p:nvPicPr>
        <p:blipFill>
          <a:blip r:embed="rId20">
            <a:alphaModFix amt="28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62452" y="3347696"/>
            <a:ext cx="284672" cy="2846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044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 Gateway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(HTTP API)</a:t>
            </a:r>
          </a:p>
        </p:txBody>
      </p:sp>
      <p:pic>
        <p:nvPicPr>
          <p:cNvPr id="34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3347696"/>
            <a:ext cx="284672" cy="2846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169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 Lambda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(FastAPI)</a:t>
            </a:r>
          </a:p>
        </p:txBody>
      </p:sp>
      <p:pic>
        <p:nvPicPr>
          <p:cNvPr id="36" name="icon:amazon-dynamodb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7453" y="3347696"/>
            <a:ext cx="284672" cy="2846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29470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DynamoDB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(workspaces, snapshots)</a:t>
            </a:r>
          </a:p>
        </p:txBody>
      </p:sp>
      <p:pic>
        <p:nvPicPr>
          <p:cNvPr id="38" name="icon:amazon-cognito" descr="image.png"/>
          <p:cNvPicPr>
            <a:picLocks noChangeAspect="1"/>
          </p:cNvPicPr>
          <p:nvPr/>
        </p:nvPicPr>
        <p:blipFill>
          <a:blip r:embed="rId24">
            <a:alphaModFix amt="28000"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68703" y="4059375"/>
            <a:ext cx="284672" cy="2846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310719" y="436777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Cognito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(PKCE + MFA)</a:t>
            </a:r>
          </a:p>
        </p:txBody>
      </p:sp>
      <p:pic>
        <p:nvPicPr>
          <p:cNvPr id="40" name="icon:aws-codecommit" descr="image.png"/>
          <p:cNvPicPr>
            <a:picLocks noChangeAspect="1"/>
          </p:cNvPicPr>
          <p:nvPr/>
        </p:nvPicPr>
        <p:blipFill>
          <a:blip r:embed="rId26">
            <a:alphaModFix amt="28000"/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59532" y="5091310"/>
            <a:ext cx="284672" cy="28467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1015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CodeCommit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(3 repos)</a:t>
            </a:r>
          </a:p>
        </p:txBody>
      </p:sp>
      <p:pic>
        <p:nvPicPr>
          <p:cNvPr id="42" name="icon:aws-codepipeline" descr="image.png"/>
          <p:cNvPicPr>
            <a:picLocks noChangeAspect="1"/>
          </p:cNvPicPr>
          <p:nvPr/>
        </p:nvPicPr>
        <p:blipFill>
          <a:blip r:embed="rId28">
            <a:alphaModFix amt="28000"/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72032" y="5091310"/>
            <a:ext cx="284672" cy="2846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9140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CodePipeline V2</a:t>
            </a:r>
          </a:p>
        </p:txBody>
      </p:sp>
      <p:pic>
        <p:nvPicPr>
          <p:cNvPr id="44" name="icon:aws-codebuild" descr="image.png"/>
          <p:cNvPicPr>
            <a:picLocks noChangeAspect="1"/>
          </p:cNvPicPr>
          <p:nvPr/>
        </p:nvPicPr>
        <p:blipFill>
          <a:blip r:embed="rId30">
            <a:alphaModFix amt="28000"/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84533" y="5091310"/>
            <a:ext cx="284672" cy="2846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7265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CodeBuild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(tests, package)</a:t>
            </a:r>
          </a:p>
        </p:txBody>
      </p:sp>
      <p:pic>
        <p:nvPicPr>
          <p:cNvPr id="46" name="icon:aws-cloudformation" descr="image.png"/>
          <p:cNvPicPr>
            <a:picLocks noChangeAspect="1"/>
          </p:cNvPicPr>
          <p:nvPr/>
        </p:nvPicPr>
        <p:blipFill>
          <a:blip r:embed="rId32">
            <a:alphaModFix amt="28000"/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797033" y="5091310"/>
            <a:ext cx="284672" cy="2846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5390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CloudFormation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(CDK)</a:t>
            </a:r>
          </a:p>
        </p:txBody>
      </p:sp>
      <p:pic>
        <p:nvPicPr>
          <p:cNvPr id="48" name="icon:aws-codedeploy" descr="image.png"/>
          <p:cNvPicPr>
            <a:picLocks noChangeAspect="1"/>
          </p:cNvPicPr>
          <p:nvPr/>
        </p:nvPicPr>
        <p:blipFill>
          <a:blip r:embed="rId34">
            <a:alphaModFix amt="28000"/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698493" y="5091310"/>
            <a:ext cx="284672" cy="28467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35155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CodeDeploy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(canary)</a:t>
            </a:r>
          </a:p>
        </p:txBody>
      </p:sp>
      <p:pic>
        <p:nvPicPr>
          <p:cNvPr id="50" name="icon:alarm" descr="image.png"/>
          <p:cNvPicPr>
            <a:picLocks noChangeAspect="1"/>
          </p:cNvPicPr>
          <p:nvPr/>
        </p:nvPicPr>
        <p:blipFill>
          <a:blip r:embed="rId36">
            <a:alphaModFix amt="28000"/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688914" y="5091310"/>
            <a:ext cx="284672" cy="2846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4197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Alarms</a:t>
            </a:r>
          </a:p>
        </p:txBody>
      </p:sp>
      <p:pic>
        <p:nvPicPr>
          <p:cNvPr id="52" name="icon:role" descr="image.png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74244" y="1903580"/>
            <a:ext cx="284672" cy="2846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734554" y="2211975"/>
            <a:ext cx="1364052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Read-only role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cloud_outcome_readonlyaccess</a:t>
            </a:r>
          </a:p>
        </p:txBody>
      </p:sp>
      <p:pic>
        <p:nvPicPr>
          <p:cNvPr id="54" name="icon:amazon-cloudwatch" descr="image.png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457411" y="1903580"/>
            <a:ext cx="284672" cy="2846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10468" y="221197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+ Tagging API</a:t>
            </a:r>
          </a:p>
        </p:txBody>
      </p:sp>
      <p:pic>
        <p:nvPicPr>
          <p:cNvPr id="56" name="icon:amazon-eventbridge" descr="image.png"/>
          <p:cNvPicPr>
            <a:picLocks noChangeAspect="1"/>
          </p:cNvPicPr>
          <p:nvPr/>
        </p:nvPicPr>
        <p:blipFill>
          <a:blip r:embed="rId12">
            <a:alphaModFix amt="2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50704" y="4400388"/>
            <a:ext cx="284672" cy="28467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292720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Synthetic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orders (5 min)</a:t>
            </a:r>
          </a:p>
        </p:txBody>
      </p:sp>
      <p:pic>
        <p:nvPicPr>
          <p:cNvPr id="58" name="icon:amazon-api-gateway" descr="image.p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3204" y="4400388"/>
            <a:ext cx="284672" cy="2846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1052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3 store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HTTP APIs</a:t>
            </a:r>
          </a:p>
        </p:txBody>
      </p:sp>
      <p:pic>
        <p:nvPicPr>
          <p:cNvPr id="60" name="icon:aws-lambda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75705" y="4400388"/>
            <a:ext cx="284672" cy="28467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9177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Checkout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Lambdas</a:t>
            </a:r>
          </a:p>
        </p:txBody>
      </p:sp>
      <p:pic>
        <p:nvPicPr>
          <p:cNvPr id="62" name="icon:amazon-dynamodb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88205" y="4400388"/>
            <a:ext cx="284672" cy="2846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30222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Orders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tables</a:t>
            </a:r>
          </a:p>
        </p:txBody>
      </p:sp>
      <p:sp>
        <p:nvSpPr>
          <p:cNvPr id="84" name="badge:3"/>
          <p:cNvSpPr/>
          <p:nvPr/>
        </p:nvSpPr>
        <p:spPr>
          <a:xfrm>
            <a:off x="4235000" y="1647663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07414" y="2082492"/>
            <a:ext cx="526351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AssumeRole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68562" y="2082492"/>
            <a:ext cx="479203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read-only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84653" y="2455617"/>
            <a:ext cx="432054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snapshot</a:t>
            </a:r>
          </a:p>
        </p:txBody>
      </p:sp>
      <p:sp>
        <p:nvSpPr>
          <p:cNvPr id="88" name="legend"/>
          <p:cNvSpPr/>
          <p:nvPr/>
        </p:nvSpPr>
        <p:spPr>
          <a:xfrm>
            <a:off x="320040" y="6103620"/>
            <a:ext cx="3291840" cy="640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" y="61493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Flow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429768" y="6432804"/>
            <a:ext cx="457200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601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Request / workflow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429768" y="6615684"/>
            <a:ext cx="457200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601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Data read / write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2029968" y="6432804"/>
            <a:ext cx="457200" cy="0"/>
          </a:xfrm>
          <a:prstGeom prst="straightConnector1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25603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Auth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2029968" y="6615684"/>
            <a:ext cx="457200" cy="0"/>
          </a:xfrm>
          <a:prstGeom prst="straightConnector1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5603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Schedule / alarm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40480" y="6062472"/>
            <a:ext cx="8031175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661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badge:3"/>
          <p:cNvSpPr/>
          <p:nvPr/>
        </p:nvSpPr>
        <p:spPr>
          <a:xfrm>
            <a:off x="3959352" y="6268212"/>
            <a:ext cx="310896" cy="310896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89120" y="6117336"/>
            <a:ext cx="7345375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The collector assumes the read-only role with an External ID, reads CloudWatch and tags across all Regions, prices usage with the Price List API and stores a snapshot.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56032"/>
            <a:ext cx="115516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STEP 4 – Ship safely</a:t>
            </a:r>
          </a:p>
        </p:txBody>
      </p:sp>
      <p:sp>
        <p:nvSpPr>
          <p:cNvPr id="3" name="group:aws-cloud"/>
          <p:cNvSpPr/>
          <p:nvPr/>
        </p:nvSpPr>
        <p:spPr>
          <a:xfrm>
            <a:off x="1677724" y="868680"/>
            <a:ext cx="6066628" cy="5029200"/>
          </a:xfrm>
          <a:prstGeom prst="rect">
            <a:avLst/>
          </a:prstGeom>
          <a:noFill/>
          <a:ln w="15875">
            <a:solidFill>
              <a:srgbClr val="232F3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con:group-aws-cloud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7724" y="868680"/>
            <a:ext cx="177920" cy="177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1228" y="880541"/>
            <a:ext cx="5807405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AWS Cloud - CloudOutcome account</a:t>
            </a:r>
          </a:p>
        </p:txBody>
      </p:sp>
      <p:sp>
        <p:nvSpPr>
          <p:cNvPr id="6" name="group:region"/>
          <p:cNvSpPr/>
          <p:nvPr/>
        </p:nvSpPr>
        <p:spPr>
          <a:xfrm>
            <a:off x="1760753" y="1105906"/>
            <a:ext cx="5900570" cy="4708944"/>
          </a:xfrm>
          <a:prstGeom prst="rect">
            <a:avLst/>
          </a:prstGeom>
          <a:noFill/>
          <a:ln w="15875">
            <a:solidFill>
              <a:srgbClr val="00A4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con:group-region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0753" y="1105906"/>
            <a:ext cx="177920" cy="177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74257" y="1117768"/>
            <a:ext cx="564134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Region (us-east-1)</a:t>
            </a:r>
          </a:p>
        </p:txBody>
      </p:sp>
      <p:sp>
        <p:nvSpPr>
          <p:cNvPr id="9" name="group:generic"/>
          <p:cNvSpPr/>
          <p:nvPr/>
        </p:nvSpPr>
        <p:spPr>
          <a:xfrm>
            <a:off x="1843783" y="1343133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3783" y="1372786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Collection</a:t>
            </a:r>
          </a:p>
        </p:txBody>
      </p:sp>
      <p:sp>
        <p:nvSpPr>
          <p:cNvPr id="11" name="group:generic"/>
          <p:cNvSpPr/>
          <p:nvPr/>
        </p:nvSpPr>
        <p:spPr>
          <a:xfrm>
            <a:off x="1843783" y="3086747"/>
            <a:ext cx="5734512" cy="161314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3783" y="3116400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Serving</a:t>
            </a:r>
          </a:p>
        </p:txBody>
      </p:sp>
      <p:sp>
        <p:nvSpPr>
          <p:cNvPr id="13" name="group:generic"/>
          <p:cNvSpPr/>
          <p:nvPr/>
        </p:nvSpPr>
        <p:spPr>
          <a:xfrm>
            <a:off x="1843783" y="4830361"/>
            <a:ext cx="5734512" cy="901460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3783" y="4860014"/>
            <a:ext cx="5734512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Delivery (CI/CD)</a:t>
            </a:r>
          </a:p>
        </p:txBody>
      </p:sp>
      <p:sp>
        <p:nvSpPr>
          <p:cNvPr id="15" name="group:account"/>
          <p:cNvSpPr/>
          <p:nvPr/>
        </p:nvSpPr>
        <p:spPr>
          <a:xfrm>
            <a:off x="7951926" y="868680"/>
            <a:ext cx="3919729" cy="5029200"/>
          </a:xfrm>
          <a:prstGeom prst="rect">
            <a:avLst/>
          </a:prstGeom>
          <a:noFill/>
          <a:ln w="15875">
            <a:solidFill>
              <a:srgbClr val="E7157B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group-aws-accoun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1926" y="868680"/>
            <a:ext cx="177920" cy="177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65430" y="880541"/>
            <a:ext cx="3660506" cy="177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83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Connected AWS accounts (up to 100)</a:t>
            </a:r>
          </a:p>
        </p:txBody>
      </p:sp>
      <p:sp>
        <p:nvSpPr>
          <p:cNvPr id="18" name="group:generic"/>
          <p:cNvSpPr/>
          <p:nvPr/>
        </p:nvSpPr>
        <p:spPr>
          <a:xfrm>
            <a:off x="8034955" y="3365488"/>
            <a:ext cx="3753671" cy="2449363"/>
          </a:xfrm>
          <a:prstGeom prst="rect">
            <a:avLst/>
          </a:prstGeom>
          <a:noFill/>
          <a:ln w="15875">
            <a:solidFill>
              <a:srgbClr val="7D89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4955" y="3395141"/>
            <a:ext cx="3753671" cy="177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83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santacloth demo storefronts</a:t>
            </a:r>
          </a:p>
        </p:txBody>
      </p:sp>
      <p:cxnSp>
        <p:nvCxnSpPr>
          <p:cNvPr id="64" name="Connector 63"/>
          <p:cNvCxnSpPr>
            <a:stCxn id="21" idx="2"/>
            <a:endCxn id="30" idx="1"/>
          </p:cNvCxnSpPr>
          <p:nvPr/>
        </p:nvCxnSpPr>
        <p:spPr>
          <a:xfrm rot="5400000" flipV="1">
            <a:off x="1658821" y="1798901"/>
            <a:ext cx="927404" cy="2454856"/>
          </a:xfrm>
          <a:prstGeom prst="bentConnector2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>
            <a:stCxn id="30" idx="3"/>
            <a:endCxn id="32" idx="1"/>
          </p:cNvCxnSpPr>
          <p:nvPr/>
        </p:nvCxnSpPr>
        <p:spPr>
          <a:xfrm>
            <a:off x="3634623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>
            <a:stCxn id="32" idx="3"/>
            <a:endCxn id="34" idx="1"/>
          </p:cNvCxnSpPr>
          <p:nvPr/>
        </p:nvCxnSpPr>
        <p:spPr>
          <a:xfrm>
            <a:off x="4447124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34" idx="3"/>
            <a:endCxn id="36" idx="1"/>
          </p:cNvCxnSpPr>
          <p:nvPr/>
        </p:nvCxnSpPr>
        <p:spPr>
          <a:xfrm>
            <a:off x="5259624" y="3490031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>
            <a:stCxn id="33" idx="2"/>
            <a:endCxn id="38" idx="0"/>
          </p:cNvCxnSpPr>
          <p:nvPr/>
        </p:nvCxnSpPr>
        <p:spPr>
          <a:xfrm rot="5400000" flipV="1">
            <a:off x="4405981" y="3754318"/>
            <a:ext cx="203863" cy="406250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>
            <a:stCxn id="56" idx="3"/>
            <a:endCxn id="58" idx="1"/>
          </p:cNvCxnSpPr>
          <p:nvPr/>
        </p:nvCxnSpPr>
        <p:spPr>
          <a:xfrm>
            <a:off x="8835375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>
            <a:stCxn id="58" idx="3"/>
            <a:endCxn id="60" idx="1"/>
          </p:cNvCxnSpPr>
          <p:nvPr/>
        </p:nvCxnSpPr>
        <p:spPr>
          <a:xfrm>
            <a:off x="9647876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>
            <a:stCxn id="60" idx="3"/>
            <a:endCxn id="62" idx="1"/>
          </p:cNvCxnSpPr>
          <p:nvPr/>
        </p:nvCxnSpPr>
        <p:spPr>
          <a:xfrm>
            <a:off x="10460376" y="4542724"/>
            <a:ext cx="527828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>
            <a:stCxn id="24" idx="3"/>
            <a:endCxn id="26" idx="1"/>
          </p:cNvCxnSpPr>
          <p:nvPr/>
        </p:nvCxnSpPr>
        <p:spPr>
          <a:xfrm flipV="1">
            <a:off x="2410160" y="1746417"/>
            <a:ext cx="2564792" cy="355839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>
            <a:stCxn id="26" idx="3"/>
            <a:endCxn id="52" idx="1"/>
          </p:cNvCxnSpPr>
          <p:nvPr/>
        </p:nvCxnSpPr>
        <p:spPr>
          <a:xfrm>
            <a:off x="5259624" y="1746417"/>
            <a:ext cx="4014620" cy="299498"/>
          </a:xfrm>
          <a:prstGeom prst="bentConnector3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52" idx="3"/>
            <a:endCxn id="54" idx="1"/>
          </p:cNvCxnSpPr>
          <p:nvPr/>
        </p:nvCxnSpPr>
        <p:spPr>
          <a:xfrm>
            <a:off x="9558916" y="2045916"/>
            <a:ext cx="898495" cy="0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stCxn id="27" idx="2"/>
            <a:endCxn id="28" idx="0"/>
          </p:cNvCxnSpPr>
          <p:nvPr/>
        </p:nvCxnSpPr>
        <p:spPr>
          <a:xfrm>
            <a:off x="5117288" y="2111897"/>
            <a:ext cx="0" cy="203863"/>
          </a:xfrm>
          <a:prstGeom prst="straightConnector1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>
            <a:stCxn id="26" idx="3"/>
            <a:endCxn id="36" idx="0"/>
          </p:cNvCxnSpPr>
          <p:nvPr/>
        </p:nvCxnSpPr>
        <p:spPr>
          <a:xfrm>
            <a:off x="5259624" y="1746417"/>
            <a:ext cx="670164" cy="1601278"/>
          </a:xfrm>
          <a:prstGeom prst="bentConnector2">
            <a:avLst/>
          </a:prstGeom>
          <a:ln w="12700">
            <a:solidFill>
              <a:srgbClr val="D5D9DE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>
            <a:stCxn id="60" idx="0"/>
            <a:endCxn id="55" idx="2"/>
          </p:cNvCxnSpPr>
          <p:nvPr/>
        </p:nvCxnSpPr>
        <p:spPr>
          <a:xfrm rot="5400000" flipH="1" flipV="1">
            <a:off x="9464397" y="3265038"/>
            <a:ext cx="1988992" cy="281706"/>
          </a:xfrm>
          <a:prstGeom prst="bentConnector3">
            <a:avLst/>
          </a:prstGeom>
          <a:ln w="12700">
            <a:solidFill>
              <a:srgbClr val="D5D9D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>
            <a:stCxn id="22" idx="3"/>
            <a:endCxn id="40" idx="1"/>
          </p:cNvCxnSpPr>
          <p:nvPr/>
        </p:nvCxnSpPr>
        <p:spPr>
          <a:xfrm>
            <a:off x="1037431" y="4320324"/>
            <a:ext cx="1322100" cy="913321"/>
          </a:xfrm>
          <a:prstGeom prst="bentConnector3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>
            <a:stCxn id="40" idx="3"/>
            <a:endCxn id="42" idx="1"/>
          </p:cNvCxnSpPr>
          <p:nvPr/>
        </p:nvCxnSpPr>
        <p:spPr>
          <a:xfrm>
            <a:off x="2644203" y="5233646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42" idx="3"/>
            <a:endCxn id="44" idx="1"/>
          </p:cNvCxnSpPr>
          <p:nvPr/>
        </p:nvCxnSpPr>
        <p:spPr>
          <a:xfrm>
            <a:off x="3456703" y="5233646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44" idx="3"/>
            <a:endCxn id="46" idx="1"/>
          </p:cNvCxnSpPr>
          <p:nvPr/>
        </p:nvCxnSpPr>
        <p:spPr>
          <a:xfrm>
            <a:off x="4269204" y="5233646"/>
            <a:ext cx="52782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stCxn id="46" idx="3"/>
            <a:endCxn id="48" idx="1"/>
          </p:cNvCxnSpPr>
          <p:nvPr/>
        </p:nvCxnSpPr>
        <p:spPr>
          <a:xfrm>
            <a:off x="5081704" y="5233646"/>
            <a:ext cx="616788" cy="0"/>
          </a:xfrm>
          <a:prstGeom prst="straightConnector1">
            <a:avLst/>
          </a:prstGeom>
          <a:ln w="28575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>
            <a:stCxn id="50" idx="1"/>
            <a:endCxn id="48" idx="3"/>
          </p:cNvCxnSpPr>
          <p:nvPr/>
        </p:nvCxnSpPr>
        <p:spPr>
          <a:xfrm flipH="1">
            <a:off x="5983165" y="5233646"/>
            <a:ext cx="705748" cy="0"/>
          </a:xfrm>
          <a:prstGeom prst="straightConnector1">
            <a:avLst/>
          </a:prstGeom>
          <a:ln w="28575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con:users" descr="image.png"/>
          <p:cNvPicPr>
            <a:picLocks noChangeAspect="1"/>
          </p:cNvPicPr>
          <p:nvPr/>
        </p:nvPicPr>
        <p:blipFill>
          <a:blip r:embed="rId8">
            <a:alphaModFix amt="28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2760" y="2054812"/>
            <a:ext cx="284672" cy="284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4776" y="236320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Business owner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/ Judge</a:t>
            </a:r>
          </a:p>
        </p:txBody>
      </p:sp>
      <p:pic>
        <p:nvPicPr>
          <p:cNvPr id="22" name="icon:developer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2760" y="4177988"/>
            <a:ext cx="284672" cy="2846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4776" y="44863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Coding agents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(Codex, Claude Code)</a:t>
            </a:r>
          </a:p>
        </p:txBody>
      </p:sp>
      <p:pic>
        <p:nvPicPr>
          <p:cNvPr id="24" name="icon:amazon-eventbridge" descr="image.png"/>
          <p:cNvPicPr>
            <a:picLocks noChangeAspect="1"/>
          </p:cNvPicPr>
          <p:nvPr/>
        </p:nvPicPr>
        <p:blipFill>
          <a:blip r:embed="rId12">
            <a:alphaModFix amt="2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25489" y="1959922"/>
            <a:ext cx="284672" cy="2846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67505" y="2268316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EventBridge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(10 min / daily)</a:t>
            </a:r>
          </a:p>
        </p:txBody>
      </p:sp>
      <p:pic>
        <p:nvPicPr>
          <p:cNvPr id="26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1604082"/>
            <a:ext cx="284672" cy="2846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28009" y="1912476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Collector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Lambda</a:t>
            </a:r>
          </a:p>
        </p:txBody>
      </p:sp>
      <p:pic>
        <p:nvPicPr>
          <p:cNvPr id="28" name="icon:checklist" descr="image.png"/>
          <p:cNvPicPr>
            <a:picLocks noChangeAspect="1"/>
          </p:cNvPicPr>
          <p:nvPr/>
        </p:nvPicPr>
        <p:blipFill>
          <a:blip r:embed="rId16">
            <a:alphaModFix amt="28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74953" y="2315761"/>
            <a:ext cx="284672" cy="2846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16969" y="262415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AWS Price List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</a:t>
            </a:r>
          </a:p>
        </p:txBody>
      </p:sp>
      <p:pic>
        <p:nvPicPr>
          <p:cNvPr id="30" name="icon:aws-amplify" descr="image.png"/>
          <p:cNvPicPr>
            <a:picLocks noChangeAspect="1"/>
          </p:cNvPicPr>
          <p:nvPr/>
        </p:nvPicPr>
        <p:blipFill>
          <a:blip r:embed="rId18">
            <a:alphaModFix amt="28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49952" y="3347696"/>
            <a:ext cx="284672" cy="2846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091968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Amplify Hosting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(React SPA)</a:t>
            </a:r>
          </a:p>
        </p:txBody>
      </p:sp>
      <p:pic>
        <p:nvPicPr>
          <p:cNvPr id="32" name="icon:amazon-api-gateway" descr="image.png"/>
          <p:cNvPicPr>
            <a:picLocks noChangeAspect="1"/>
          </p:cNvPicPr>
          <p:nvPr/>
        </p:nvPicPr>
        <p:blipFill>
          <a:blip r:embed="rId20">
            <a:alphaModFix amt="28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62452" y="3347696"/>
            <a:ext cx="284672" cy="2846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044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 Gateway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(HTTP API)</a:t>
            </a:r>
          </a:p>
        </p:txBody>
      </p:sp>
      <p:pic>
        <p:nvPicPr>
          <p:cNvPr id="34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4953" y="3347696"/>
            <a:ext cx="284672" cy="2846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16969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API Lambda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(FastAPI)</a:t>
            </a:r>
          </a:p>
        </p:txBody>
      </p:sp>
      <p:pic>
        <p:nvPicPr>
          <p:cNvPr id="36" name="icon:amazon-dynamodb" descr="image.png"/>
          <p:cNvPicPr>
            <a:picLocks noChangeAspect="1"/>
          </p:cNvPicPr>
          <p:nvPr/>
        </p:nvPicPr>
        <p:blipFill>
          <a:blip r:embed="rId22">
            <a:alphaModFix amt="28000"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787453" y="3347696"/>
            <a:ext cx="284672" cy="2846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29470" y="365609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DynamoDB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(workspaces, snapshots)</a:t>
            </a:r>
          </a:p>
        </p:txBody>
      </p:sp>
      <p:pic>
        <p:nvPicPr>
          <p:cNvPr id="38" name="icon:amazon-cognito" descr="image.png"/>
          <p:cNvPicPr>
            <a:picLocks noChangeAspect="1"/>
          </p:cNvPicPr>
          <p:nvPr/>
        </p:nvPicPr>
        <p:blipFill>
          <a:blip r:embed="rId24">
            <a:alphaModFix amt="28000"/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568703" y="4059375"/>
            <a:ext cx="284672" cy="2846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310719" y="4367770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Cognito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(PKCE + MFA)</a:t>
            </a:r>
          </a:p>
        </p:txBody>
      </p:sp>
      <p:pic>
        <p:nvPicPr>
          <p:cNvPr id="40" name="icon:aws-codecommit" descr="image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359532" y="5091310"/>
            <a:ext cx="284672" cy="28467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1015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CodeCommit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(3 repos)</a:t>
            </a:r>
          </a:p>
        </p:txBody>
      </p:sp>
      <p:pic>
        <p:nvPicPr>
          <p:cNvPr id="42" name="icon:aws-codepipeline" descr="image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72032" y="5091310"/>
            <a:ext cx="284672" cy="2846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914048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CodePipeline V2</a:t>
            </a:r>
          </a:p>
        </p:txBody>
      </p:sp>
      <p:pic>
        <p:nvPicPr>
          <p:cNvPr id="44" name="icon:aws-codebuild" descr="image.png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84533" y="5091310"/>
            <a:ext cx="284672" cy="28467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7265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CodeBuild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(tests, package)</a:t>
            </a:r>
          </a:p>
        </p:txBody>
      </p:sp>
      <p:pic>
        <p:nvPicPr>
          <p:cNvPr id="46" name="icon:aws-cloudformation" descr="image.png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797033" y="5091310"/>
            <a:ext cx="284672" cy="2846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539049" y="5399705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CloudFormation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(CDK)</a:t>
            </a:r>
          </a:p>
        </p:txBody>
      </p:sp>
      <p:pic>
        <p:nvPicPr>
          <p:cNvPr id="48" name="icon:aws-codedeploy" descr="image.png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698493" y="5091310"/>
            <a:ext cx="284672" cy="28467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35155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CodeDeploy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(canary)</a:t>
            </a:r>
          </a:p>
        </p:txBody>
      </p:sp>
      <p:pic>
        <p:nvPicPr>
          <p:cNvPr id="50" name="icon:alarm" descr="image.png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688914" y="5091310"/>
            <a:ext cx="284672" cy="28467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341970" y="539970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Alarms</a:t>
            </a:r>
          </a:p>
        </p:txBody>
      </p:sp>
      <p:pic>
        <p:nvPicPr>
          <p:cNvPr id="52" name="icon:role" descr="image.png"/>
          <p:cNvPicPr>
            <a:picLocks noChangeAspect="1"/>
          </p:cNvPicPr>
          <p:nvPr/>
        </p:nvPicPr>
        <p:blipFill>
          <a:blip r:embed="rId38">
            <a:alphaModFix amt="28000"/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274244" y="1903580"/>
            <a:ext cx="284672" cy="28467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734554" y="2211975"/>
            <a:ext cx="1364052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Read-only role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cloud_outcome_readonlyaccess</a:t>
            </a:r>
          </a:p>
        </p:txBody>
      </p:sp>
      <p:pic>
        <p:nvPicPr>
          <p:cNvPr id="54" name="icon:amazon-cloudwatch" descr="image.png"/>
          <p:cNvPicPr>
            <a:picLocks noChangeAspect="1"/>
          </p:cNvPicPr>
          <p:nvPr/>
        </p:nvPicPr>
        <p:blipFill>
          <a:blip r:embed="rId40">
            <a:alphaModFix amt="28000"/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457411" y="1903580"/>
            <a:ext cx="284672" cy="28467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10468" y="2211975"/>
            <a:ext cx="97855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CloudWatch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+ Tagging API</a:t>
            </a:r>
          </a:p>
        </p:txBody>
      </p:sp>
      <p:pic>
        <p:nvPicPr>
          <p:cNvPr id="56" name="icon:amazon-eventbridge" descr="image.png"/>
          <p:cNvPicPr>
            <a:picLocks noChangeAspect="1"/>
          </p:cNvPicPr>
          <p:nvPr/>
        </p:nvPicPr>
        <p:blipFill>
          <a:blip r:embed="rId12">
            <a:alphaModFix amt="28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50704" y="4400388"/>
            <a:ext cx="284672" cy="28467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292720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Synthetic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orders (5 min)</a:t>
            </a:r>
          </a:p>
        </p:txBody>
      </p:sp>
      <p:pic>
        <p:nvPicPr>
          <p:cNvPr id="58" name="icon:amazon-api-gateway" descr="image.png"/>
          <p:cNvPicPr>
            <a:picLocks noChangeAspect="1"/>
          </p:cNvPicPr>
          <p:nvPr/>
        </p:nvPicPr>
        <p:blipFill>
          <a:blip r:embed="rId20">
            <a:alphaModFix amt="28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63204" y="4400388"/>
            <a:ext cx="284672" cy="28467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1052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3 store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HTTP APIs</a:t>
            </a:r>
          </a:p>
        </p:txBody>
      </p:sp>
      <p:pic>
        <p:nvPicPr>
          <p:cNvPr id="60" name="icon:aws-lambda" descr="image.png"/>
          <p:cNvPicPr>
            <a:picLocks noChangeAspect="1"/>
          </p:cNvPicPr>
          <p:nvPr/>
        </p:nvPicPr>
        <p:blipFill>
          <a:blip r:embed="rId14">
            <a:alphaModFix amt="28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75705" y="4400388"/>
            <a:ext cx="284672" cy="28467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9917721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Checkout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Lambdas</a:t>
            </a:r>
          </a:p>
        </p:txBody>
      </p:sp>
      <p:pic>
        <p:nvPicPr>
          <p:cNvPr id="62" name="icon:amazon-dynamodb" descr="image.png"/>
          <p:cNvPicPr>
            <a:picLocks noChangeAspect="1"/>
          </p:cNvPicPr>
          <p:nvPr/>
        </p:nvPicPr>
        <p:blipFill>
          <a:blip r:embed="rId22">
            <a:alphaModFix amt="28000"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988205" y="4400388"/>
            <a:ext cx="284672" cy="28467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730222" y="4708783"/>
            <a:ext cx="800639" cy="272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Orders</a:t>
            </a:r>
          </a:p>
          <a:p>
            <a:pPr algn="ctr"/>
            <a:r>
              <a:rPr sz="700" b="0">
                <a:solidFill>
                  <a:srgbClr val="B0B7C0"/>
                </a:solidFill>
                <a:latin typeface="Arial"/>
                <a:ea typeface="맑은 고딕"/>
                <a:cs typeface="Arial"/>
              </a:rPr>
              <a:t>tables</a:t>
            </a:r>
          </a:p>
        </p:txBody>
      </p:sp>
      <p:sp>
        <p:nvSpPr>
          <p:cNvPr id="84" name="badge:4"/>
          <p:cNvSpPr/>
          <p:nvPr/>
        </p:nvSpPr>
        <p:spPr>
          <a:xfrm>
            <a:off x="1930251" y="5134891"/>
            <a:ext cx="197510" cy="197510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12980" y="5407382"/>
            <a:ext cx="432054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git push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20012" y="5270222"/>
            <a:ext cx="432054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75" b="0">
                <a:solidFill>
                  <a:srgbClr val="7D8998"/>
                </a:solidFill>
                <a:latin typeface="Arial"/>
                <a:ea typeface="맑은 고딕"/>
                <a:cs typeface="Arial"/>
              </a:rPr>
              <a:t>rollback</a:t>
            </a:r>
          </a:p>
        </p:txBody>
      </p:sp>
      <p:sp>
        <p:nvSpPr>
          <p:cNvPr id="87" name="legend"/>
          <p:cNvSpPr/>
          <p:nvPr/>
        </p:nvSpPr>
        <p:spPr>
          <a:xfrm>
            <a:off x="320040" y="6103620"/>
            <a:ext cx="3291840" cy="6400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61493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Flow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29768" y="6432804"/>
            <a:ext cx="457200" cy="0"/>
          </a:xfrm>
          <a:prstGeom prst="straightConnector1">
            <a:avLst/>
          </a:prstGeom>
          <a:ln w="19050">
            <a:solidFill>
              <a:srgbClr val="D86613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9601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Request / workflow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29768" y="6615684"/>
            <a:ext cx="457200" cy="0"/>
          </a:xfrm>
          <a:prstGeom prst="straightConnector1">
            <a:avLst/>
          </a:prstGeom>
          <a:ln w="19050">
            <a:solidFill>
              <a:srgbClr val="147EBA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601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Data read / write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029968" y="6432804"/>
            <a:ext cx="457200" cy="0"/>
          </a:xfrm>
          <a:prstGeom prst="straightConnector1">
            <a:avLst/>
          </a:prstGeom>
          <a:ln w="15875">
            <a:solidFill>
              <a:srgbClr val="7D899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2560320" y="63505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Auth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029968" y="6615684"/>
            <a:ext cx="457200" cy="0"/>
          </a:xfrm>
          <a:prstGeom prst="straightConnector1">
            <a:avLst/>
          </a:prstGeom>
          <a:ln w="19050">
            <a:solidFill>
              <a:srgbClr val="DD344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560320" y="65333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Schedule / alarm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840480" y="6062472"/>
            <a:ext cx="8031175" cy="7223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661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badge:4"/>
          <p:cNvSpPr/>
          <p:nvPr/>
        </p:nvSpPr>
        <p:spPr>
          <a:xfrm>
            <a:off x="3959352" y="6268212"/>
            <a:ext cx="310896" cy="310896"/>
          </a:xfrm>
          <a:prstGeom prst="ellipse">
            <a:avLst/>
          </a:prstGeom>
          <a:solidFill>
            <a:srgbClr val="232F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0" y="6117336"/>
            <a:ext cx="7345375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F3E"/>
                </a:solidFill>
                <a:latin typeface="Arial"/>
                <a:ea typeface="맑은 고딕"/>
                <a:cs typeface="Arial"/>
              </a:rPr>
              <a:t>A push builds one immutable release that CloudFormation promotes dev to validation to prod; CodeDeploy canary rolls back on CloudWatch alarms.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